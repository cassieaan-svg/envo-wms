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slide. EnVo is the inventory tracking system for pharmacy and laboratory commodities. This deck answers the questions new users ask most often.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EnVo replaces paper registers. Everything downstream — alerts, logs, the CRRF — is built from what staff enter on the operations screens.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single most common support call is staff typing their full e-mail address into the username box. Stress this.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menu adapts to the signed-in user. A dispenser sees fewer items than a store manager; SDP and DSD users see a shorter menu again.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Only store managers can write stock at a facility (canManageStock). Dispensers see intake/adjustment/CRRF but disabled. SDP and DSD use a reduced menu — record consumed, transfers, stock levels, and a read-only site activity log.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Consumed = out to a patient. Intake = in from a supplier. Adjustment = a correction. Adjustments used for routine dispensing are the top cause of wrong AMC figures.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Stock only lands on the receiver's shelf when they accept it. Until then it stays with the sender, so nothing is double-counted in transit.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Partial disputes split the transfer into an accepted record and a disputed one. The dispute is terminal — there is no 'stock restored' step any more.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AMC is anchored to calendar quarters, so it deliberately stays fixed within a quarter. A facility can be given a custom set of months if its pattern is unusual.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bin card is the answer to 'why is my number what it is'. It reconstructs the balance from every recorded movement.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Activity Log answers 'what exactly happened'. Monitoring answers 'is this normal'. Reporting gaps show up fastest on Monitoring.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CRRF prints against the national template, so every template line appears even where the facility has no data. Zeros usually mean missing entries, not zero usage.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Replace the bracketed placeholders with the real support contact before distributing this deck.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371600"/>
            <a:ext cx="4206240" cy="4206240"/>
          </a:xfrm>
          <a:prstGeom prst="ellipse">
            <a:avLst/>
          </a:prstGeom>
          <a:solidFill>
            <a:srgbClr val="14532D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160020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16A34A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3774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EnVo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822960" y="3310128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9EE6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Frequently Asked Questions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822960" y="39776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A9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short guide to the everyday screens — signing in, recording stock,</a:t>
            </a: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A9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transfers, alerts and reports.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58521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50" kern="0" dirty="0">
                <a:solidFill>
                  <a:srgbClr val="6B76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Tracking · HIV Programme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EnVo?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50976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place to record what you use, what you receive, and what you have left.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51760" cy="1783080"/>
          </a:xfrm>
          <a:prstGeom prst="roundRect">
            <a:avLst>
              <a:gd name="adj" fmla="val 5128"/>
            </a:avLst>
          </a:prstGeom>
          <a:solidFill>
            <a:srgbClr val="F3F6F4"/>
          </a:solidFill>
          <a:ln/>
        </p:spPr>
      </p:sp>
      <p:sp>
        <p:nvSpPr>
          <p:cNvPr id="5" name="Shape 3"/>
          <p:cNvSpPr/>
          <p:nvPr/>
        </p:nvSpPr>
        <p:spPr>
          <a:xfrm>
            <a:off x="804672" y="1828800"/>
            <a:ext cx="402336" cy="402336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18288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04672" y="2340864"/>
            <a:ext cx="2139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04672" y="2651760"/>
            <a:ext cx="21396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commodity you hold, with quantity, batch and expiry date.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410712" y="1600200"/>
            <a:ext cx="2651760" cy="1783080"/>
          </a:xfrm>
          <a:prstGeom prst="roundRect">
            <a:avLst>
              <a:gd name="adj" fmla="val 5128"/>
            </a:avLst>
          </a:prstGeom>
          <a:solidFill>
            <a:srgbClr val="F3F6F4"/>
          </a:solidFill>
          <a:ln/>
        </p:spPr>
      </p:sp>
      <p:sp>
        <p:nvSpPr>
          <p:cNvPr id="10" name="Shape 8"/>
          <p:cNvSpPr/>
          <p:nvPr/>
        </p:nvSpPr>
        <p:spPr>
          <a:xfrm>
            <a:off x="3666744" y="1828800"/>
            <a:ext cx="402336" cy="402336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1" name="Text 9"/>
          <p:cNvSpPr/>
          <p:nvPr/>
        </p:nvSpPr>
        <p:spPr>
          <a:xfrm>
            <a:off x="3666744" y="18288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66744" y="2340864"/>
            <a:ext cx="2139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66744" y="2651760"/>
            <a:ext cx="21396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consumed, stock received, and corrections — as they happen.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272784" y="1600200"/>
            <a:ext cx="2651760" cy="1783080"/>
          </a:xfrm>
          <a:prstGeom prst="roundRect">
            <a:avLst>
              <a:gd name="adj" fmla="val 5128"/>
            </a:avLst>
          </a:prstGeom>
          <a:solidFill>
            <a:srgbClr val="F3F6F4"/>
          </a:solidFill>
          <a:ln/>
        </p:spPr>
      </p:sp>
      <p:sp>
        <p:nvSpPr>
          <p:cNvPr id="15" name="Shape 13"/>
          <p:cNvSpPr/>
          <p:nvPr/>
        </p:nvSpPr>
        <p:spPr>
          <a:xfrm>
            <a:off x="6528816" y="1828800"/>
            <a:ext cx="402336" cy="402336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6" name="Text 14"/>
          <p:cNvSpPr/>
          <p:nvPr/>
        </p:nvSpPr>
        <p:spPr>
          <a:xfrm>
            <a:off x="6528816" y="18288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528816" y="2340864"/>
            <a:ext cx="2139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528816" y="2651760"/>
            <a:ext cx="21396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stock from another facility, or send stock where it is needed.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134856" y="1600200"/>
            <a:ext cx="2651760" cy="1783080"/>
          </a:xfrm>
          <a:prstGeom prst="roundRect">
            <a:avLst>
              <a:gd name="adj" fmla="val 5128"/>
            </a:avLst>
          </a:prstGeom>
          <a:solidFill>
            <a:srgbClr val="F3F6F4"/>
          </a:solidFill>
          <a:ln/>
        </p:spPr>
      </p:sp>
      <p:sp>
        <p:nvSpPr>
          <p:cNvPr id="20" name="Shape 18"/>
          <p:cNvSpPr/>
          <p:nvPr/>
        </p:nvSpPr>
        <p:spPr>
          <a:xfrm>
            <a:off x="9390888" y="1828800"/>
            <a:ext cx="402336" cy="402336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21" name="Text 19"/>
          <p:cNvSpPr/>
          <p:nvPr/>
        </p:nvSpPr>
        <p:spPr>
          <a:xfrm>
            <a:off x="9390888" y="18288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390888" y="2340864"/>
            <a:ext cx="2139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390888" y="2651760"/>
            <a:ext cx="21396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Alerts, activity logs and the CRRF, generated from what you entered.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48640" y="365760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sections, same screens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48640" y="4005072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EnVo covers Pharmacy and Laboratory commodities. Both sections work the same way — the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menu, the forms and the buttons are identical. Only the commodity list and the CRRF form differ.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548640" y="4937760"/>
            <a:ext cx="5852160" cy="384048"/>
          </a:xfrm>
          <a:prstGeom prst="roundRect">
            <a:avLst>
              <a:gd name="adj" fmla="val 14286"/>
            </a:avLst>
          </a:prstGeom>
          <a:solidFill>
            <a:srgbClr val="F3F6F4"/>
          </a:solidFill>
          <a:ln/>
        </p:spPr>
      </p:sp>
      <p:sp>
        <p:nvSpPr>
          <p:cNvPr id="27" name="Shape 25"/>
          <p:cNvSpPr/>
          <p:nvPr/>
        </p:nvSpPr>
        <p:spPr>
          <a:xfrm>
            <a:off x="713232" y="5056632"/>
            <a:ext cx="146304" cy="146304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28" name="Text 26"/>
          <p:cNvSpPr/>
          <p:nvPr/>
        </p:nvSpPr>
        <p:spPr>
          <a:xfrm>
            <a:off x="969264" y="4937760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Pharmacy — ARVs, OI medicines, condoms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48640" y="5413248"/>
            <a:ext cx="5852160" cy="384048"/>
          </a:xfrm>
          <a:prstGeom prst="roundRect">
            <a:avLst>
              <a:gd name="adj" fmla="val 14286"/>
            </a:avLst>
          </a:prstGeom>
          <a:solidFill>
            <a:srgbClr val="F3F6F4"/>
          </a:solidFill>
          <a:ln/>
        </p:spPr>
      </p:sp>
      <p:sp>
        <p:nvSpPr>
          <p:cNvPr id="30" name="Shape 28"/>
          <p:cNvSpPr/>
          <p:nvPr/>
        </p:nvSpPr>
        <p:spPr>
          <a:xfrm>
            <a:off x="713232" y="5532120"/>
            <a:ext cx="146304" cy="146304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1" name="Text 29"/>
          <p:cNvSpPr/>
          <p:nvPr/>
        </p:nvSpPr>
        <p:spPr>
          <a:xfrm>
            <a:off x="969264" y="5413248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Laboratory — CD4, RTK and DBS supplies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766560" y="3657600"/>
            <a:ext cx="4846320" cy="2670048"/>
          </a:xfrm>
          <a:prstGeom prst="roundRect">
            <a:avLst>
              <a:gd name="adj" fmla="val 2740"/>
            </a:avLst>
          </a:prstGeom>
          <a:solidFill>
            <a:srgbClr val="111827"/>
          </a:solidFill>
          <a:ln w="12700">
            <a:solidFill>
              <a:srgbClr val="263042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766560" y="3657600"/>
            <a:ext cx="1453896" cy="2670048"/>
          </a:xfrm>
          <a:prstGeom prst="roundRect">
            <a:avLst>
              <a:gd name="adj" fmla="val 5031"/>
            </a:avLst>
          </a:prstGeom>
          <a:solidFill>
            <a:srgbClr val="080D17"/>
          </a:solidFill>
          <a:ln/>
        </p:spPr>
      </p:sp>
      <p:sp>
        <p:nvSpPr>
          <p:cNvPr id="34" name="Shape 32"/>
          <p:cNvSpPr/>
          <p:nvPr/>
        </p:nvSpPr>
        <p:spPr>
          <a:xfrm>
            <a:off x="6912864" y="3803904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16A34A"/>
          </a:solidFill>
          <a:ln/>
        </p:spPr>
      </p:sp>
      <p:sp>
        <p:nvSpPr>
          <p:cNvPr id="35" name="Text 33"/>
          <p:cNvSpPr/>
          <p:nvPr/>
        </p:nvSpPr>
        <p:spPr>
          <a:xfrm>
            <a:off x="7242048" y="3794760"/>
            <a:ext cx="905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EnVo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004304" y="4224528"/>
            <a:ext cx="1069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Consumed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004304" y="4535424"/>
            <a:ext cx="1069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Intake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7004304" y="4846320"/>
            <a:ext cx="1069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Transfers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876288" y="5129784"/>
            <a:ext cx="1234440" cy="274320"/>
          </a:xfrm>
          <a:prstGeom prst="roundRect">
            <a:avLst>
              <a:gd name="adj" fmla="val 16667"/>
            </a:avLst>
          </a:prstGeom>
          <a:solidFill>
            <a:srgbClr val="14532D"/>
          </a:solidFill>
          <a:ln/>
        </p:spPr>
      </p:sp>
      <p:sp>
        <p:nvSpPr>
          <p:cNvPr id="40" name="Text 38"/>
          <p:cNvSpPr/>
          <p:nvPr/>
        </p:nvSpPr>
        <p:spPr>
          <a:xfrm>
            <a:off x="7004304" y="5157216"/>
            <a:ext cx="1069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7F5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Levels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7004304" y="5468112"/>
            <a:ext cx="1069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8439912" y="3822192"/>
            <a:ext cx="2953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Levels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8439912" y="4315968"/>
            <a:ext cx="2953512" cy="310896"/>
          </a:xfrm>
          <a:prstGeom prst="roundRect">
            <a:avLst>
              <a:gd name="adj" fmla="val 11765"/>
            </a:avLst>
          </a:prstGeom>
          <a:solidFill>
            <a:srgbClr val="1B2434"/>
          </a:solidFill>
          <a:ln/>
        </p:spPr>
      </p:sp>
      <p:sp>
        <p:nvSpPr>
          <p:cNvPr id="44" name="Text 42"/>
          <p:cNvSpPr/>
          <p:nvPr/>
        </p:nvSpPr>
        <p:spPr>
          <a:xfrm>
            <a:off x="8549640" y="4315968"/>
            <a:ext cx="1764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9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Efavirenz 600mg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0387584" y="4315968"/>
            <a:ext cx="896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1,240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8439912" y="4700016"/>
            <a:ext cx="2953512" cy="310896"/>
          </a:xfrm>
          <a:prstGeom prst="roundRect">
            <a:avLst>
              <a:gd name="adj" fmla="val 11765"/>
            </a:avLst>
          </a:prstGeom>
          <a:solidFill>
            <a:srgbClr val="1B2434"/>
          </a:solidFill>
          <a:ln/>
        </p:spPr>
      </p:sp>
      <p:sp>
        <p:nvSpPr>
          <p:cNvPr id="47" name="Text 45"/>
          <p:cNvSpPr/>
          <p:nvPr/>
        </p:nvSpPr>
        <p:spPr>
          <a:xfrm>
            <a:off x="8549640" y="4700016"/>
            <a:ext cx="1764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9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TLD 90s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10387584" y="4700016"/>
            <a:ext cx="896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310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8439912" y="5084064"/>
            <a:ext cx="2953512" cy="310896"/>
          </a:xfrm>
          <a:prstGeom prst="roundRect">
            <a:avLst>
              <a:gd name="adj" fmla="val 11765"/>
            </a:avLst>
          </a:prstGeom>
          <a:solidFill>
            <a:srgbClr val="1B2434"/>
          </a:solidFill>
          <a:ln/>
        </p:spPr>
      </p:sp>
      <p:sp>
        <p:nvSpPr>
          <p:cNvPr id="50" name="Text 48"/>
          <p:cNvSpPr/>
          <p:nvPr/>
        </p:nvSpPr>
        <p:spPr>
          <a:xfrm>
            <a:off x="8549640" y="5084064"/>
            <a:ext cx="1764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9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Determine RTK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10387584" y="5084064"/>
            <a:ext cx="896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Signing in for the first time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50976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username is not your e-mail address.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4846320" cy="3200400"/>
          </a:xfrm>
          <a:prstGeom prst="roundRect">
            <a:avLst>
              <a:gd name="adj" fmla="val 2286"/>
            </a:avLst>
          </a:prstGeom>
          <a:solidFill>
            <a:srgbClr val="111827"/>
          </a:solidFill>
          <a:ln w="12700">
            <a:solidFill>
              <a:srgbClr val="263042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600200"/>
            <a:ext cx="1453896" cy="3200400"/>
          </a:xfrm>
          <a:prstGeom prst="roundRect">
            <a:avLst>
              <a:gd name="adj" fmla="val 5031"/>
            </a:avLst>
          </a:prstGeom>
          <a:solidFill>
            <a:srgbClr val="080D17"/>
          </a:solidFill>
          <a:ln/>
        </p:spPr>
      </p:sp>
      <p:sp>
        <p:nvSpPr>
          <p:cNvPr id="6" name="Shape 4"/>
          <p:cNvSpPr/>
          <p:nvPr/>
        </p:nvSpPr>
        <p:spPr>
          <a:xfrm>
            <a:off x="694944" y="1746504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16A34A"/>
          </a:solidFill>
          <a:ln/>
        </p:spPr>
      </p:sp>
      <p:sp>
        <p:nvSpPr>
          <p:cNvPr id="7" name="Text 5"/>
          <p:cNvSpPr/>
          <p:nvPr/>
        </p:nvSpPr>
        <p:spPr>
          <a:xfrm>
            <a:off x="1024128" y="1737360"/>
            <a:ext cx="905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221992" y="1764792"/>
            <a:ext cx="2953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in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1600200"/>
            <a:ext cx="4846320" cy="3200400"/>
          </a:xfrm>
          <a:prstGeom prst="roundRect">
            <a:avLst>
              <a:gd name="adj" fmla="val 2286"/>
            </a:avLst>
          </a:prstGeom>
          <a:solidFill>
            <a:srgbClr val="111827"/>
          </a:solidFill>
          <a:ln w="12700">
            <a:solidFill>
              <a:srgbClr val="2630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651760" y="1874520"/>
            <a:ext cx="640080" cy="640080"/>
          </a:xfrm>
          <a:prstGeom prst="roundRect">
            <a:avLst>
              <a:gd name="adj" fmla="val 20000"/>
            </a:avLst>
          </a:prstGeom>
          <a:solidFill>
            <a:srgbClr val="16A34A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606040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EnVo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234440" y="3063240"/>
            <a:ext cx="34747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6B76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USERNAME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1234440" y="3236976"/>
            <a:ext cx="3474720" cy="292608"/>
          </a:xfrm>
          <a:prstGeom prst="roundRect">
            <a:avLst>
              <a:gd name="adj" fmla="val 12500"/>
            </a:avLst>
          </a:prstGeom>
          <a:solidFill>
            <a:srgbClr val="1B2434"/>
          </a:solidFill>
          <a:ln w="12700">
            <a:solidFill>
              <a:srgbClr val="2C3A4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25880" y="3236976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9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amaka.o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234440" y="3611880"/>
            <a:ext cx="34747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6B76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1234440" y="3785616"/>
            <a:ext cx="3474720" cy="292608"/>
          </a:xfrm>
          <a:prstGeom prst="roundRect">
            <a:avLst>
              <a:gd name="adj" fmla="val 12500"/>
            </a:avLst>
          </a:prstGeom>
          <a:solidFill>
            <a:srgbClr val="1B2434"/>
          </a:solidFill>
          <a:ln w="12700">
            <a:solidFill>
              <a:srgbClr val="2C3A4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25880" y="3785616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9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••••••••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234440" y="4224528"/>
            <a:ext cx="3474720" cy="310896"/>
          </a:xfrm>
          <a:prstGeom prst="roundRect">
            <a:avLst>
              <a:gd name="adj" fmla="val 14706"/>
            </a:avLst>
          </a:prstGeom>
          <a:solidFill>
            <a:srgbClr val="16A34A"/>
          </a:solidFill>
          <a:ln/>
        </p:spPr>
      </p:sp>
      <p:sp>
        <p:nvSpPr>
          <p:cNvPr id="19" name="Text 17"/>
          <p:cNvSpPr/>
          <p:nvPr/>
        </p:nvSpPr>
        <p:spPr>
          <a:xfrm>
            <a:off x="1234440" y="4224528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in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852160" y="1709928"/>
            <a:ext cx="310896" cy="310896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21" name="Text 19"/>
          <p:cNvSpPr/>
          <p:nvPr/>
        </p:nvSpPr>
        <p:spPr>
          <a:xfrm>
            <a:off x="5852160" y="17099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309360" y="169164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I type as my username?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309360" y="1984248"/>
            <a:ext cx="5303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your username — for example amaka.o — not your full e-mail address.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Passwords are case sensitive.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852160" y="2761488"/>
            <a:ext cx="310896" cy="310896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25" name="Text 23"/>
          <p:cNvSpPr/>
          <p:nvPr/>
        </p:nvSpPr>
        <p:spPr>
          <a:xfrm>
            <a:off x="5852160" y="27614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309360" y="274320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I change my password?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309360" y="3035808"/>
            <a:ext cx="5303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Change password at the bottom of the left-hand menu. Do this the first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you sign in.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852160" y="3813048"/>
            <a:ext cx="310896" cy="310896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29" name="Text 27"/>
          <p:cNvSpPr/>
          <p:nvPr/>
        </p:nvSpPr>
        <p:spPr>
          <a:xfrm>
            <a:off x="5852160" y="38130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309360" y="379476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screen is too dark or too bright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309360" y="4087368"/>
            <a:ext cx="5303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bottom of the menu, choose System, Light or Dark. System follows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computer or phone setting.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852160" y="4864608"/>
            <a:ext cx="310896" cy="310896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33" name="Text 31"/>
          <p:cNvSpPr/>
          <p:nvPr/>
        </p:nvSpPr>
        <p:spPr>
          <a:xfrm>
            <a:off x="5852160" y="48646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309360" y="484632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I have to sign in every time?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309360" y="5138928"/>
            <a:ext cx="5303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No. EnVo remembers you until you sign out or your session expires. Always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out on a shared computer.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Finding your way around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50976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left-hand menu is grouped into Operations, Overview and Reports.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4114800" cy="4206240"/>
          </a:xfrm>
          <a:prstGeom prst="roundRect">
            <a:avLst>
              <a:gd name="adj" fmla="val 1778"/>
            </a:avLst>
          </a:prstGeom>
          <a:solidFill>
            <a:srgbClr val="111827"/>
          </a:solidFill>
          <a:ln w="12700">
            <a:solidFill>
              <a:srgbClr val="263042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600200"/>
            <a:ext cx="1234440" cy="4206240"/>
          </a:xfrm>
          <a:prstGeom prst="roundRect">
            <a:avLst>
              <a:gd name="adj" fmla="val 5926"/>
            </a:avLst>
          </a:prstGeom>
          <a:solidFill>
            <a:srgbClr val="080D17"/>
          </a:solidFill>
          <a:ln/>
        </p:spPr>
      </p:sp>
      <p:sp>
        <p:nvSpPr>
          <p:cNvPr id="6" name="Shape 4"/>
          <p:cNvSpPr/>
          <p:nvPr/>
        </p:nvSpPr>
        <p:spPr>
          <a:xfrm>
            <a:off x="694944" y="1746504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16A34A"/>
          </a:solidFill>
          <a:ln/>
        </p:spPr>
      </p:sp>
      <p:sp>
        <p:nvSpPr>
          <p:cNvPr id="7" name="Text 5"/>
          <p:cNvSpPr/>
          <p:nvPr/>
        </p:nvSpPr>
        <p:spPr>
          <a:xfrm>
            <a:off x="1024128" y="173736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86384" y="2167128"/>
            <a:ext cx="850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Consumed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86384" y="2478024"/>
            <a:ext cx="850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Intake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86384" y="2788920"/>
            <a:ext cx="850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Adjustment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86384" y="3099816"/>
            <a:ext cx="850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58368" y="3383280"/>
            <a:ext cx="1014984" cy="274320"/>
          </a:xfrm>
          <a:prstGeom prst="roundRect">
            <a:avLst>
              <a:gd name="adj" fmla="val 16667"/>
            </a:avLst>
          </a:prstGeom>
          <a:solidFill>
            <a:srgbClr val="14532D"/>
          </a:solidFill>
          <a:ln/>
        </p:spPr>
      </p:sp>
      <p:sp>
        <p:nvSpPr>
          <p:cNvPr id="13" name="Text 11"/>
          <p:cNvSpPr/>
          <p:nvPr/>
        </p:nvSpPr>
        <p:spPr>
          <a:xfrm>
            <a:off x="786384" y="3410712"/>
            <a:ext cx="850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7F5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86384" y="3721608"/>
            <a:ext cx="850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Levels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86384" y="4032504"/>
            <a:ext cx="850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86384" y="4343400"/>
            <a:ext cx="850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Log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86384" y="4654296"/>
            <a:ext cx="850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86384" y="4965192"/>
            <a:ext cx="850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CRRF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002536" y="1764792"/>
            <a:ext cx="2441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029200" y="1737360"/>
            <a:ext cx="6583680" cy="1225296"/>
          </a:xfrm>
          <a:prstGeom prst="roundRect">
            <a:avLst>
              <a:gd name="adj" fmla="val 6716"/>
            </a:avLst>
          </a:prstGeom>
          <a:solidFill>
            <a:srgbClr val="F3F6F4"/>
          </a:solidFill>
          <a:ln/>
        </p:spPr>
      </p:sp>
      <p:sp>
        <p:nvSpPr>
          <p:cNvPr id="21" name="Shape 19"/>
          <p:cNvSpPr/>
          <p:nvPr/>
        </p:nvSpPr>
        <p:spPr>
          <a:xfrm>
            <a:off x="5257800" y="1975104"/>
            <a:ext cx="365760" cy="36576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22" name="Text 20"/>
          <p:cNvSpPr/>
          <p:nvPr/>
        </p:nvSpPr>
        <p:spPr>
          <a:xfrm>
            <a:off x="5779008" y="1920240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779008" y="2249424"/>
            <a:ext cx="5577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do day to day — record what you used, receive deliveries,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 mistake, and move stock between facilities.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029200" y="3154680"/>
            <a:ext cx="6583680" cy="1225296"/>
          </a:xfrm>
          <a:prstGeom prst="roundRect">
            <a:avLst>
              <a:gd name="adj" fmla="val 6716"/>
            </a:avLst>
          </a:prstGeom>
          <a:solidFill>
            <a:srgbClr val="F3F6F4"/>
          </a:solidFill>
          <a:ln/>
        </p:spPr>
      </p:sp>
      <p:sp>
        <p:nvSpPr>
          <p:cNvPr id="25" name="Shape 23"/>
          <p:cNvSpPr/>
          <p:nvPr/>
        </p:nvSpPr>
        <p:spPr>
          <a:xfrm>
            <a:off x="5257800" y="3392424"/>
            <a:ext cx="365760" cy="36576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6" name="Text 24"/>
          <p:cNvSpPr/>
          <p:nvPr/>
        </p:nvSpPr>
        <p:spPr>
          <a:xfrm>
            <a:off x="5779008" y="3337560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779008" y="3666744"/>
            <a:ext cx="5577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you stand right now — the dashboard, current stock levels,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the alerts that need your attention.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029200" y="4572000"/>
            <a:ext cx="6583680" cy="1225296"/>
          </a:xfrm>
          <a:prstGeom prst="roundRect">
            <a:avLst>
              <a:gd name="adj" fmla="val 6716"/>
            </a:avLst>
          </a:prstGeom>
          <a:solidFill>
            <a:srgbClr val="F3F6F4"/>
          </a:solidFill>
          <a:ln/>
        </p:spPr>
      </p:sp>
      <p:sp>
        <p:nvSpPr>
          <p:cNvPr id="29" name="Shape 27"/>
          <p:cNvSpPr/>
          <p:nvPr/>
        </p:nvSpPr>
        <p:spPr>
          <a:xfrm>
            <a:off x="5257800" y="4809744"/>
            <a:ext cx="365760" cy="36576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30" name="Text 28"/>
          <p:cNvSpPr/>
          <p:nvPr/>
        </p:nvSpPr>
        <p:spPr>
          <a:xfrm>
            <a:off x="5779008" y="4754880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779008" y="5084064"/>
            <a:ext cx="5577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send onward — the activity log, monitoring charts and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CRRF for your reporting period.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029200" y="5989320"/>
            <a:ext cx="6583680" cy="502920"/>
          </a:xfrm>
          <a:prstGeom prst="roundRect">
            <a:avLst>
              <a:gd name="adj" fmla="val 14545"/>
            </a:avLst>
          </a:prstGeom>
          <a:solidFill>
            <a:srgbClr val="FEF3E2"/>
          </a:solidFill>
          <a:ln/>
        </p:spPr>
      </p:sp>
      <p:sp>
        <p:nvSpPr>
          <p:cNvPr id="33" name="Text 31"/>
          <p:cNvSpPr/>
          <p:nvPr/>
        </p:nvSpPr>
        <p:spPr>
          <a:xfrm>
            <a:off x="5257800" y="5989320"/>
            <a:ext cx="6126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C4A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menu items may be greyed out — that is your role limiting what you can do, not a fault.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548640" y="598932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 phone, tap the ☰ icon at the top-left to open this menu.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can do what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50976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facility roles, and the actions each one is allowed to take.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81144" y="1517904"/>
            <a:ext cx="1700784" cy="566928"/>
          </a:xfrm>
          <a:prstGeom prst="roundRect">
            <a:avLst>
              <a:gd name="adj" fmla="val 11290"/>
            </a:avLst>
          </a:prstGeom>
          <a:solidFill>
            <a:srgbClr val="16A34A"/>
          </a:solidFill>
          <a:ln/>
        </p:spPr>
      </p:sp>
      <p:sp>
        <p:nvSpPr>
          <p:cNvPr id="5" name="Text 3"/>
          <p:cNvSpPr/>
          <p:nvPr/>
        </p:nvSpPr>
        <p:spPr>
          <a:xfrm>
            <a:off x="4581144" y="1517904"/>
            <a:ext cx="17007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</a:t>
            </a:r>
            <a:endParaRPr lang="en-US" sz="12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336792" y="1517904"/>
            <a:ext cx="1700784" cy="566928"/>
          </a:xfrm>
          <a:prstGeom prst="roundRect">
            <a:avLst>
              <a:gd name="adj" fmla="val 11290"/>
            </a:avLst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6336792" y="1517904"/>
            <a:ext cx="17007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Dispenser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092440" y="1517904"/>
            <a:ext cx="1700784" cy="566928"/>
          </a:xfrm>
          <a:prstGeom prst="roundRect">
            <a:avLst>
              <a:gd name="adj" fmla="val 11290"/>
            </a:avLst>
          </a:prstGeom>
          <a:solidFill>
            <a:srgbClr val="D97706"/>
          </a:solidFill>
          <a:ln/>
        </p:spPr>
      </p:sp>
      <p:sp>
        <p:nvSpPr>
          <p:cNvPr id="9" name="Text 7"/>
          <p:cNvSpPr/>
          <p:nvPr/>
        </p:nvSpPr>
        <p:spPr>
          <a:xfrm>
            <a:off x="8092440" y="1517904"/>
            <a:ext cx="17007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SDP site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848088" y="1517904"/>
            <a:ext cx="1700784" cy="566928"/>
          </a:xfrm>
          <a:prstGeom prst="roundRect">
            <a:avLst>
              <a:gd name="adj" fmla="val 11290"/>
            </a:avLst>
          </a:prstGeom>
          <a:solidFill>
            <a:srgbClr val="D97706"/>
          </a:solidFill>
          <a:ln/>
        </p:spPr>
      </p:sp>
      <p:sp>
        <p:nvSpPr>
          <p:cNvPr id="11" name="Text 9"/>
          <p:cNvSpPr/>
          <p:nvPr/>
        </p:nvSpPr>
        <p:spPr>
          <a:xfrm>
            <a:off x="9848088" y="1517904"/>
            <a:ext cx="17007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DSD site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1517904"/>
            <a:ext cx="3977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48640" y="2157984"/>
            <a:ext cx="11055096" cy="420624"/>
          </a:xfrm>
          <a:prstGeom prst="roundRect">
            <a:avLst>
              <a:gd name="adj" fmla="val 10870"/>
            </a:avLst>
          </a:prstGeom>
          <a:solidFill>
            <a:srgbClr val="F3F6F4"/>
          </a:solidFill>
          <a:ln/>
        </p:spPr>
      </p:sp>
      <p:sp>
        <p:nvSpPr>
          <p:cNvPr id="14" name="Text 12"/>
          <p:cNvSpPr/>
          <p:nvPr/>
        </p:nvSpPr>
        <p:spPr>
          <a:xfrm>
            <a:off x="658368" y="2176272"/>
            <a:ext cx="3794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stock consumed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303520" y="2249424"/>
            <a:ext cx="256032" cy="256032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6" name="Text 14"/>
          <p:cNvSpPr/>
          <p:nvPr/>
        </p:nvSpPr>
        <p:spPr>
          <a:xfrm>
            <a:off x="5266944" y="2231136"/>
            <a:ext cx="329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059168" y="2249424"/>
            <a:ext cx="256032" cy="256032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8" name="Text 16"/>
          <p:cNvSpPr/>
          <p:nvPr/>
        </p:nvSpPr>
        <p:spPr>
          <a:xfrm>
            <a:off x="7022592" y="2231136"/>
            <a:ext cx="329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814816" y="2249424"/>
            <a:ext cx="256032" cy="256032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20" name="Text 18"/>
          <p:cNvSpPr/>
          <p:nvPr/>
        </p:nvSpPr>
        <p:spPr>
          <a:xfrm>
            <a:off x="8778240" y="2231136"/>
            <a:ext cx="329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10570464" y="2249424"/>
            <a:ext cx="256032" cy="256032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22" name="Text 20"/>
          <p:cNvSpPr/>
          <p:nvPr/>
        </p:nvSpPr>
        <p:spPr>
          <a:xfrm>
            <a:off x="10533888" y="2231136"/>
            <a:ext cx="329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58368" y="2596896"/>
            <a:ext cx="3794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&amp; receive transfers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303520" y="2670048"/>
            <a:ext cx="256032" cy="256032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25" name="Text 23"/>
          <p:cNvSpPr/>
          <p:nvPr/>
        </p:nvSpPr>
        <p:spPr>
          <a:xfrm>
            <a:off x="5266944" y="2651760"/>
            <a:ext cx="329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059168" y="2670048"/>
            <a:ext cx="256032" cy="256032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27" name="Text 25"/>
          <p:cNvSpPr/>
          <p:nvPr/>
        </p:nvSpPr>
        <p:spPr>
          <a:xfrm>
            <a:off x="7022592" y="2651760"/>
            <a:ext cx="329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814816" y="2670048"/>
            <a:ext cx="256032" cy="256032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29" name="Text 27"/>
          <p:cNvSpPr/>
          <p:nvPr/>
        </p:nvSpPr>
        <p:spPr>
          <a:xfrm>
            <a:off x="8778240" y="2651760"/>
            <a:ext cx="329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0570464" y="2670048"/>
            <a:ext cx="256032" cy="256032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31" name="Text 29"/>
          <p:cNvSpPr/>
          <p:nvPr/>
        </p:nvSpPr>
        <p:spPr>
          <a:xfrm>
            <a:off x="10533888" y="2651760"/>
            <a:ext cx="329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48640" y="2999232"/>
            <a:ext cx="11055096" cy="420624"/>
          </a:xfrm>
          <a:prstGeom prst="roundRect">
            <a:avLst>
              <a:gd name="adj" fmla="val 10870"/>
            </a:avLst>
          </a:prstGeom>
          <a:solidFill>
            <a:srgbClr val="F3F6F4"/>
          </a:solidFill>
          <a:ln/>
        </p:spPr>
      </p:sp>
      <p:sp>
        <p:nvSpPr>
          <p:cNvPr id="33" name="Text 31"/>
          <p:cNvSpPr/>
          <p:nvPr/>
        </p:nvSpPr>
        <p:spPr>
          <a:xfrm>
            <a:off x="658368" y="3017520"/>
            <a:ext cx="3794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stock levels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5303520" y="3090672"/>
            <a:ext cx="256032" cy="256032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35" name="Text 33"/>
          <p:cNvSpPr/>
          <p:nvPr/>
        </p:nvSpPr>
        <p:spPr>
          <a:xfrm>
            <a:off x="5266944" y="3072384"/>
            <a:ext cx="329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7059168" y="3090672"/>
            <a:ext cx="256032" cy="256032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37" name="Text 35"/>
          <p:cNvSpPr/>
          <p:nvPr/>
        </p:nvSpPr>
        <p:spPr>
          <a:xfrm>
            <a:off x="7022592" y="3072384"/>
            <a:ext cx="329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8814816" y="3090672"/>
            <a:ext cx="256032" cy="256032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39" name="Text 37"/>
          <p:cNvSpPr/>
          <p:nvPr/>
        </p:nvSpPr>
        <p:spPr>
          <a:xfrm>
            <a:off x="8778240" y="3072384"/>
            <a:ext cx="329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10570464" y="3090672"/>
            <a:ext cx="256032" cy="256032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41" name="Text 39"/>
          <p:cNvSpPr/>
          <p:nvPr/>
        </p:nvSpPr>
        <p:spPr>
          <a:xfrm>
            <a:off x="10533888" y="3072384"/>
            <a:ext cx="329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58368" y="3438144"/>
            <a:ext cx="3794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activity log</a:t>
            </a:r>
            <a:endParaRPr lang="en-US" sz="1250" dirty="0"/>
          </a:p>
        </p:txBody>
      </p:sp>
      <p:sp>
        <p:nvSpPr>
          <p:cNvPr id="43" name="Shape 41"/>
          <p:cNvSpPr/>
          <p:nvPr/>
        </p:nvSpPr>
        <p:spPr>
          <a:xfrm>
            <a:off x="5303520" y="3511296"/>
            <a:ext cx="256032" cy="256032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44" name="Text 42"/>
          <p:cNvSpPr/>
          <p:nvPr/>
        </p:nvSpPr>
        <p:spPr>
          <a:xfrm>
            <a:off x="5266944" y="3493008"/>
            <a:ext cx="329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7059168" y="3511296"/>
            <a:ext cx="256032" cy="256032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46" name="Text 44"/>
          <p:cNvSpPr/>
          <p:nvPr/>
        </p:nvSpPr>
        <p:spPr>
          <a:xfrm>
            <a:off x="7022592" y="3493008"/>
            <a:ext cx="329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8814816" y="3511296"/>
            <a:ext cx="256032" cy="256032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48" name="Text 46"/>
          <p:cNvSpPr/>
          <p:nvPr/>
        </p:nvSpPr>
        <p:spPr>
          <a:xfrm>
            <a:off x="8778240" y="3493008"/>
            <a:ext cx="329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10570464" y="3511296"/>
            <a:ext cx="256032" cy="256032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50" name="Text 48"/>
          <p:cNvSpPr/>
          <p:nvPr/>
        </p:nvSpPr>
        <p:spPr>
          <a:xfrm>
            <a:off x="10533888" y="3493008"/>
            <a:ext cx="329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548640" y="3840480"/>
            <a:ext cx="11055096" cy="420624"/>
          </a:xfrm>
          <a:prstGeom prst="roundRect">
            <a:avLst>
              <a:gd name="adj" fmla="val 10870"/>
            </a:avLst>
          </a:prstGeom>
          <a:solidFill>
            <a:srgbClr val="F3F6F4"/>
          </a:solidFill>
          <a:ln/>
        </p:spPr>
      </p:sp>
      <p:sp>
        <p:nvSpPr>
          <p:cNvPr id="52" name="Text 50"/>
          <p:cNvSpPr/>
          <p:nvPr/>
        </p:nvSpPr>
        <p:spPr>
          <a:xfrm>
            <a:off x="658368" y="3858768"/>
            <a:ext cx="3794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stock (Intake)</a:t>
            </a:r>
            <a:endParaRPr lang="en-US" sz="1250" dirty="0"/>
          </a:p>
        </p:txBody>
      </p:sp>
      <p:sp>
        <p:nvSpPr>
          <p:cNvPr id="53" name="Shape 51"/>
          <p:cNvSpPr/>
          <p:nvPr/>
        </p:nvSpPr>
        <p:spPr>
          <a:xfrm>
            <a:off x="5303520" y="3931920"/>
            <a:ext cx="256032" cy="256032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54" name="Text 52"/>
          <p:cNvSpPr/>
          <p:nvPr/>
        </p:nvSpPr>
        <p:spPr>
          <a:xfrm>
            <a:off x="5266944" y="3913632"/>
            <a:ext cx="329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7022592" y="3913632"/>
            <a:ext cx="329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2C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8778240" y="3913632"/>
            <a:ext cx="329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2C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57" name="Text 55"/>
          <p:cNvSpPr/>
          <p:nvPr/>
        </p:nvSpPr>
        <p:spPr>
          <a:xfrm>
            <a:off x="10533888" y="3913632"/>
            <a:ext cx="329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2C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58" name="Text 56"/>
          <p:cNvSpPr/>
          <p:nvPr/>
        </p:nvSpPr>
        <p:spPr>
          <a:xfrm>
            <a:off x="658368" y="4279392"/>
            <a:ext cx="3794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adjustments</a:t>
            </a:r>
            <a:endParaRPr lang="en-US" sz="1250" dirty="0"/>
          </a:p>
        </p:txBody>
      </p:sp>
      <p:sp>
        <p:nvSpPr>
          <p:cNvPr id="59" name="Shape 57"/>
          <p:cNvSpPr/>
          <p:nvPr/>
        </p:nvSpPr>
        <p:spPr>
          <a:xfrm>
            <a:off x="5303520" y="4352544"/>
            <a:ext cx="256032" cy="256032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60" name="Text 58"/>
          <p:cNvSpPr/>
          <p:nvPr/>
        </p:nvSpPr>
        <p:spPr>
          <a:xfrm>
            <a:off x="5266944" y="4334256"/>
            <a:ext cx="329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7022592" y="4334256"/>
            <a:ext cx="329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2C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62" name="Text 60"/>
          <p:cNvSpPr/>
          <p:nvPr/>
        </p:nvSpPr>
        <p:spPr>
          <a:xfrm>
            <a:off x="8778240" y="4334256"/>
            <a:ext cx="329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2C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63" name="Text 61"/>
          <p:cNvSpPr/>
          <p:nvPr/>
        </p:nvSpPr>
        <p:spPr>
          <a:xfrm>
            <a:off x="10533888" y="4334256"/>
            <a:ext cx="329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2C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64" name="Shape 62"/>
          <p:cNvSpPr/>
          <p:nvPr/>
        </p:nvSpPr>
        <p:spPr>
          <a:xfrm>
            <a:off x="548640" y="4681728"/>
            <a:ext cx="11055096" cy="420624"/>
          </a:xfrm>
          <a:prstGeom prst="roundRect">
            <a:avLst>
              <a:gd name="adj" fmla="val 10870"/>
            </a:avLst>
          </a:prstGeom>
          <a:solidFill>
            <a:srgbClr val="F3F6F4"/>
          </a:solidFill>
          <a:ln/>
        </p:spPr>
      </p:sp>
      <p:sp>
        <p:nvSpPr>
          <p:cNvPr id="65" name="Text 63"/>
          <p:cNvSpPr/>
          <p:nvPr/>
        </p:nvSpPr>
        <p:spPr>
          <a:xfrm>
            <a:off x="658368" y="4700016"/>
            <a:ext cx="3794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the CRRF</a:t>
            </a:r>
            <a:endParaRPr lang="en-US" sz="1250" dirty="0"/>
          </a:p>
        </p:txBody>
      </p:sp>
      <p:sp>
        <p:nvSpPr>
          <p:cNvPr id="66" name="Shape 64"/>
          <p:cNvSpPr/>
          <p:nvPr/>
        </p:nvSpPr>
        <p:spPr>
          <a:xfrm>
            <a:off x="5303520" y="4773168"/>
            <a:ext cx="256032" cy="256032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67" name="Text 65"/>
          <p:cNvSpPr/>
          <p:nvPr/>
        </p:nvSpPr>
        <p:spPr>
          <a:xfrm>
            <a:off x="5266944" y="4754880"/>
            <a:ext cx="329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68" name="Text 66"/>
          <p:cNvSpPr/>
          <p:nvPr/>
        </p:nvSpPr>
        <p:spPr>
          <a:xfrm>
            <a:off x="7022592" y="4754880"/>
            <a:ext cx="329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2C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69" name="Text 67"/>
          <p:cNvSpPr/>
          <p:nvPr/>
        </p:nvSpPr>
        <p:spPr>
          <a:xfrm>
            <a:off x="8778240" y="4754880"/>
            <a:ext cx="329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2C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70" name="Text 68"/>
          <p:cNvSpPr/>
          <p:nvPr/>
        </p:nvSpPr>
        <p:spPr>
          <a:xfrm>
            <a:off x="10533888" y="4754880"/>
            <a:ext cx="329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2C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71" name="Text 69"/>
          <p:cNvSpPr/>
          <p:nvPr/>
        </p:nvSpPr>
        <p:spPr>
          <a:xfrm>
            <a:off x="658368" y="5120640"/>
            <a:ext cx="3794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Dashboard, alerts &amp; monitoring</a:t>
            </a:r>
            <a:endParaRPr lang="en-US" sz="1250" dirty="0"/>
          </a:p>
        </p:txBody>
      </p:sp>
      <p:sp>
        <p:nvSpPr>
          <p:cNvPr id="72" name="Shape 70"/>
          <p:cNvSpPr/>
          <p:nvPr/>
        </p:nvSpPr>
        <p:spPr>
          <a:xfrm>
            <a:off x="5303520" y="5193792"/>
            <a:ext cx="256032" cy="256032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73" name="Text 71"/>
          <p:cNvSpPr/>
          <p:nvPr/>
        </p:nvSpPr>
        <p:spPr>
          <a:xfrm>
            <a:off x="5266944" y="5175504"/>
            <a:ext cx="329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74" name="Shape 72"/>
          <p:cNvSpPr/>
          <p:nvPr/>
        </p:nvSpPr>
        <p:spPr>
          <a:xfrm>
            <a:off x="7059168" y="5193792"/>
            <a:ext cx="256032" cy="256032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75" name="Text 73"/>
          <p:cNvSpPr/>
          <p:nvPr/>
        </p:nvSpPr>
        <p:spPr>
          <a:xfrm>
            <a:off x="7022592" y="5175504"/>
            <a:ext cx="329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76" name="Text 74"/>
          <p:cNvSpPr/>
          <p:nvPr/>
        </p:nvSpPr>
        <p:spPr>
          <a:xfrm>
            <a:off x="8778240" y="5175504"/>
            <a:ext cx="329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2C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77" name="Text 75"/>
          <p:cNvSpPr/>
          <p:nvPr/>
        </p:nvSpPr>
        <p:spPr>
          <a:xfrm>
            <a:off x="10533888" y="5175504"/>
            <a:ext cx="329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2C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78" name="Text 76"/>
          <p:cNvSpPr/>
          <p:nvPr/>
        </p:nvSpPr>
        <p:spPr>
          <a:xfrm>
            <a:off x="548640" y="568756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Manager is the only facility role that can receive deliveries, adjust stock, and file the CRRF.</a:t>
            </a:r>
            <a:endParaRPr lang="en-US" sz="1250" dirty="0"/>
          </a:p>
        </p:txBody>
      </p:sp>
      <p:sp>
        <p:nvSpPr>
          <p:cNvPr id="79" name="Shape 77"/>
          <p:cNvSpPr/>
          <p:nvPr/>
        </p:nvSpPr>
        <p:spPr>
          <a:xfrm>
            <a:off x="548640" y="6016752"/>
            <a:ext cx="11064240" cy="621792"/>
          </a:xfrm>
          <a:prstGeom prst="roundRect">
            <a:avLst>
              <a:gd name="adj" fmla="val 11765"/>
            </a:avLst>
          </a:prstGeom>
          <a:solidFill>
            <a:srgbClr val="FEF3E2"/>
          </a:solidFill>
          <a:ln/>
        </p:spPr>
      </p:sp>
      <p:sp>
        <p:nvSpPr>
          <p:cNvPr id="80" name="Text 78"/>
          <p:cNvSpPr/>
          <p:nvPr/>
        </p:nvSpPr>
        <p:spPr>
          <a:xfrm>
            <a:off x="777240" y="6016752"/>
            <a:ext cx="10607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7C4A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Dispenser, </a:t>
            </a:r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8A5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extra actions appear greyed out. </a:t>
            </a:r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7C4A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SDP and DSD site users </a:t>
            </a:r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8A5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a shorter menu and don't see those items at all — and their activity log is view-only.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screen do I use?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50976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operations screens people mix up most often.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3566160" cy="4526280"/>
          </a:xfrm>
          <a:prstGeom prst="roundRect">
            <a:avLst>
              <a:gd name="adj" fmla="val 2564"/>
            </a:avLst>
          </a:prstGeom>
          <a:solidFill>
            <a:srgbClr val="F3F6F4"/>
          </a:solidFill>
          <a:ln/>
          <a:effectLst>
            <a:outerShdw sx="100000" sy="100000" kx="0" ky="0" algn="bl" rotWithShape="0" blurRad="1524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810512"/>
            <a:ext cx="3054096" cy="420624"/>
          </a:xfrm>
          <a:prstGeom prst="roundRect">
            <a:avLst>
              <a:gd name="adj" fmla="val 15217"/>
            </a:avLst>
          </a:prstGeom>
          <a:solidFill>
            <a:srgbClr val="16A34A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1810512"/>
            <a:ext cx="30540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Stock Consumed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41248" y="2377440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IT WHEN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41248" y="2578608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has LEFT your shelf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patient or client.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41248" y="3255264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FILL IN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841248" y="3493008"/>
            <a:ext cx="3017520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969264" y="3493008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Commodity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41248" y="3803904"/>
            <a:ext cx="3017520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969264" y="3803904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Quantity used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41248" y="4114800"/>
            <a:ext cx="3017520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969264" y="4114800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Recorded by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41248" y="4425696"/>
            <a:ext cx="3017520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969264" y="4425696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41248" y="5285232"/>
            <a:ext cx="3017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your day-to-day entry.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what AMC is calculated from.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325112" y="1572768"/>
            <a:ext cx="3566160" cy="4526280"/>
          </a:xfrm>
          <a:prstGeom prst="roundRect">
            <a:avLst>
              <a:gd name="adj" fmla="val 2564"/>
            </a:avLst>
          </a:prstGeom>
          <a:solidFill>
            <a:srgbClr val="F3F6F4"/>
          </a:solidFill>
          <a:ln/>
          <a:effectLst>
            <a:outerShdw sx="100000" sy="100000" kx="0" ky="0" algn="bl" rotWithShape="0" blurRad="1524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81144" y="1810512"/>
            <a:ext cx="3054096" cy="420624"/>
          </a:xfrm>
          <a:prstGeom prst="roundRect">
            <a:avLst>
              <a:gd name="adj" fmla="val 15217"/>
            </a:avLst>
          </a:prstGeom>
          <a:solidFill>
            <a:srgbClr val="2563EB"/>
          </a:solidFill>
          <a:ln/>
        </p:spPr>
      </p:sp>
      <p:sp>
        <p:nvSpPr>
          <p:cNvPr id="21" name="Text 19"/>
          <p:cNvSpPr/>
          <p:nvPr/>
        </p:nvSpPr>
        <p:spPr>
          <a:xfrm>
            <a:off x="4581144" y="1810512"/>
            <a:ext cx="30540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Intake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617720" y="2377440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IT WHEN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617720" y="2578608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has ARRIVED at your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facility from a supplier.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617720" y="3255264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FILL IN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617720" y="3493008"/>
            <a:ext cx="3017520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4745736" y="3493008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Commodity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617720" y="3803904"/>
            <a:ext cx="3017520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4745736" y="3803904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Quantity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617720" y="4114800"/>
            <a:ext cx="3017520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</p:spPr>
      </p:sp>
      <p:sp>
        <p:nvSpPr>
          <p:cNvPr id="30" name="Text 28"/>
          <p:cNvSpPr/>
          <p:nvPr/>
        </p:nvSpPr>
        <p:spPr>
          <a:xfrm>
            <a:off x="4745736" y="4114800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617720" y="4425696"/>
            <a:ext cx="3017520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4745736" y="4425696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/ lot number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617720" y="4736592"/>
            <a:ext cx="3017520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</p:spPr>
      </p:sp>
      <p:sp>
        <p:nvSpPr>
          <p:cNvPr id="34" name="Text 32"/>
          <p:cNvSpPr/>
          <p:nvPr/>
        </p:nvSpPr>
        <p:spPr>
          <a:xfrm>
            <a:off x="4745736" y="4736592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Expiry date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617720" y="5285232"/>
            <a:ext cx="3017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and expiry are required —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drive your expiry alerts.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8101584" y="1572768"/>
            <a:ext cx="3566160" cy="4526280"/>
          </a:xfrm>
          <a:prstGeom prst="roundRect">
            <a:avLst>
              <a:gd name="adj" fmla="val 2564"/>
            </a:avLst>
          </a:prstGeom>
          <a:solidFill>
            <a:srgbClr val="F3F6F4"/>
          </a:solidFill>
          <a:ln/>
          <a:effectLst>
            <a:outerShdw sx="100000" sy="100000" kx="0" ky="0" algn="bl" rotWithShape="0" blurRad="152400" dist="25400" dir="540000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8357616" y="1810512"/>
            <a:ext cx="3054096" cy="420624"/>
          </a:xfrm>
          <a:prstGeom prst="roundRect">
            <a:avLst>
              <a:gd name="adj" fmla="val 15217"/>
            </a:avLst>
          </a:prstGeom>
          <a:solidFill>
            <a:srgbClr val="D97706"/>
          </a:solidFill>
          <a:ln/>
        </p:spPr>
      </p:sp>
      <p:sp>
        <p:nvSpPr>
          <p:cNvPr id="38" name="Text 36"/>
          <p:cNvSpPr/>
          <p:nvPr/>
        </p:nvSpPr>
        <p:spPr>
          <a:xfrm>
            <a:off x="8357616" y="1810512"/>
            <a:ext cx="30540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Adjustment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8394192" y="2377440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IT WHEN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8394192" y="2578608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number on screen does not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the number on the shelf.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8394192" y="3255264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REASONS YOU CAN PICK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8394192" y="3493008"/>
            <a:ext cx="3017520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</p:spPr>
      </p:sp>
      <p:sp>
        <p:nvSpPr>
          <p:cNvPr id="43" name="Text 41"/>
          <p:cNvSpPr/>
          <p:nvPr/>
        </p:nvSpPr>
        <p:spPr>
          <a:xfrm>
            <a:off x="8522208" y="3493008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Expired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8394192" y="3803904"/>
            <a:ext cx="3017520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</p:spPr>
      </p:sp>
      <p:sp>
        <p:nvSpPr>
          <p:cNvPr id="45" name="Text 43"/>
          <p:cNvSpPr/>
          <p:nvPr/>
        </p:nvSpPr>
        <p:spPr>
          <a:xfrm>
            <a:off x="8522208" y="3803904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Damaged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8394192" y="4114800"/>
            <a:ext cx="3017520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</p:spPr>
      </p:sp>
      <p:sp>
        <p:nvSpPr>
          <p:cNvPr id="47" name="Text 45"/>
          <p:cNvSpPr/>
          <p:nvPr/>
        </p:nvSpPr>
        <p:spPr>
          <a:xfrm>
            <a:off x="8522208" y="4114800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/ Stolen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8394192" y="4425696"/>
            <a:ext cx="3017520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</p:spPr>
      </p:sp>
      <p:sp>
        <p:nvSpPr>
          <p:cNvPr id="49" name="Text 47"/>
          <p:cNvSpPr/>
          <p:nvPr/>
        </p:nvSpPr>
        <p:spPr>
          <a:xfrm>
            <a:off x="8522208" y="4425696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count correction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8394192" y="4736592"/>
            <a:ext cx="3017520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</p:spPr>
      </p:sp>
      <p:sp>
        <p:nvSpPr>
          <p:cNvPr id="51" name="Text 49"/>
          <p:cNvSpPr/>
          <p:nvPr/>
        </p:nvSpPr>
        <p:spPr>
          <a:xfrm>
            <a:off x="8522208" y="4736592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Returned to store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8394192" y="5285232"/>
            <a:ext cx="3017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reason. Most reasons fix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direction for you.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548640" y="623620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use an Adjustment to record normal consumption — it will distort your AMC.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Transfers: how stock moves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50976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Redistribution &amp; Emergency Order — every transfer follows the same path.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487168" cy="1737360"/>
          </a:xfrm>
          <a:prstGeom prst="roundRect">
            <a:avLst>
              <a:gd name="adj" fmla="val 5263"/>
            </a:avLst>
          </a:prstGeom>
          <a:solidFill>
            <a:srgbClr val="F3F6F4"/>
          </a:solidFill>
          <a:ln/>
          <a:effectLst>
            <a:outerShdw sx="100000" sy="100000" kx="0" ky="0" algn="bl" rotWithShape="0" blurRad="1524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68096" y="1901952"/>
            <a:ext cx="384048" cy="384048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9019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68096" y="2395728"/>
            <a:ext cx="2048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68096" y="2706624"/>
            <a:ext cx="20482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request has been raised and is waiting for the sending facility to act.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072384" y="2331720"/>
            <a:ext cx="329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3438144" y="1691640"/>
            <a:ext cx="2487168" cy="1737360"/>
          </a:xfrm>
          <a:prstGeom prst="roundRect">
            <a:avLst>
              <a:gd name="adj" fmla="val 5263"/>
            </a:avLst>
          </a:prstGeom>
          <a:solidFill>
            <a:srgbClr val="F3F6F4"/>
          </a:solidFill>
          <a:ln/>
          <a:effectLst>
            <a:outerShdw sx="100000" sy="100000" kx="0" ky="0" algn="bl" rotWithShape="0" blurRad="1524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0" y="1901952"/>
            <a:ext cx="384048" cy="384048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0" y="19019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657600" y="2395728"/>
            <a:ext cx="2048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3657600" y="2706624"/>
            <a:ext cx="20482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sender has agreed and prepared the stock for dispatch.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961888" y="2331720"/>
            <a:ext cx="329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6327648" y="1691640"/>
            <a:ext cx="2487168" cy="1737360"/>
          </a:xfrm>
          <a:prstGeom prst="roundRect">
            <a:avLst>
              <a:gd name="adj" fmla="val 5263"/>
            </a:avLst>
          </a:prstGeom>
          <a:solidFill>
            <a:srgbClr val="F3F6F4"/>
          </a:solidFill>
          <a:ln/>
          <a:effectLst>
            <a:outerShdw sx="100000" sy="100000" kx="0" ky="0" algn="bl" rotWithShape="0" blurRad="1524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547104" y="1901952"/>
            <a:ext cx="384048" cy="384048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8" name="Text 16"/>
          <p:cNvSpPr/>
          <p:nvPr/>
        </p:nvSpPr>
        <p:spPr>
          <a:xfrm>
            <a:off x="6547104" y="19019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547104" y="2395728"/>
            <a:ext cx="2048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transit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6547104" y="2706624"/>
            <a:ext cx="20482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stock has left the sender and is on its way to you.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851392" y="2331720"/>
            <a:ext cx="329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22" name="Shape 20"/>
          <p:cNvSpPr/>
          <p:nvPr/>
        </p:nvSpPr>
        <p:spPr>
          <a:xfrm>
            <a:off x="9217152" y="1691640"/>
            <a:ext cx="2487168" cy="1737360"/>
          </a:xfrm>
          <a:prstGeom prst="roundRect">
            <a:avLst>
              <a:gd name="adj" fmla="val 5263"/>
            </a:avLst>
          </a:prstGeom>
          <a:solidFill>
            <a:srgbClr val="14532D"/>
          </a:solidFill>
          <a:ln/>
          <a:effectLst>
            <a:outerShdw sx="100000" sy="100000" kx="0" ky="0" algn="bl" rotWithShape="0" blurRad="1524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436608" y="1901952"/>
            <a:ext cx="384048" cy="384048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24" name="Text 22"/>
          <p:cNvSpPr/>
          <p:nvPr/>
        </p:nvSpPr>
        <p:spPr>
          <a:xfrm>
            <a:off x="9436608" y="19019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436608" y="2395728"/>
            <a:ext cx="2048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Accepted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9436608" y="2706624"/>
            <a:ext cx="20482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C9E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receiver confirms what arrived. Stock is added to their shelf.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48640" y="3749040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tabs on the Transfers screen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48640" y="4160520"/>
            <a:ext cx="6766560" cy="566928"/>
          </a:xfrm>
          <a:prstGeom prst="roundRect">
            <a:avLst>
              <a:gd name="adj" fmla="val 11290"/>
            </a:avLst>
          </a:prstGeom>
          <a:solidFill>
            <a:srgbClr val="F3F6F4"/>
          </a:solidFill>
          <a:ln/>
        </p:spPr>
      </p:sp>
      <p:sp>
        <p:nvSpPr>
          <p:cNvPr id="29" name="Text 27"/>
          <p:cNvSpPr/>
          <p:nvPr/>
        </p:nvSpPr>
        <p:spPr>
          <a:xfrm>
            <a:off x="777240" y="416052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108960" y="4160520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another facility for stock, and track requests you have raised.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48640" y="4818888"/>
            <a:ext cx="6766560" cy="566928"/>
          </a:xfrm>
          <a:prstGeom prst="roundRect">
            <a:avLst>
              <a:gd name="adj" fmla="val 11290"/>
            </a:avLst>
          </a:prstGeom>
          <a:solidFill>
            <a:srgbClr val="F3F6F4"/>
          </a:solidFill>
          <a:ln/>
        </p:spPr>
      </p:sp>
      <p:sp>
        <p:nvSpPr>
          <p:cNvPr id="32" name="Text 30"/>
          <p:cNvSpPr/>
          <p:nvPr/>
        </p:nvSpPr>
        <p:spPr>
          <a:xfrm>
            <a:off x="777240" y="4818888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redistribution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108960" y="4818888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stock from your store to your dispensary, or out to a DSD site.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48640" y="5477256"/>
            <a:ext cx="6766560" cy="566928"/>
          </a:xfrm>
          <a:prstGeom prst="roundRect">
            <a:avLst>
              <a:gd name="adj" fmla="val 11290"/>
            </a:avLst>
          </a:prstGeom>
          <a:solidFill>
            <a:srgbClr val="F3F6F4"/>
          </a:solidFill>
          <a:ln/>
        </p:spPr>
      </p:sp>
      <p:sp>
        <p:nvSpPr>
          <p:cNvPr id="35" name="Text 33"/>
          <p:cNvSpPr/>
          <p:nvPr/>
        </p:nvSpPr>
        <p:spPr>
          <a:xfrm>
            <a:off x="777240" y="5477256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redistribution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3108960" y="5477256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transfers sent to and received from other facilities, and print the form.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7635240" y="3931920"/>
            <a:ext cx="3977640" cy="2148840"/>
          </a:xfrm>
          <a:prstGeom prst="roundRect">
            <a:avLst>
              <a:gd name="adj" fmla="val 4255"/>
            </a:avLst>
          </a:prstGeom>
          <a:solidFill>
            <a:srgbClr val="FEF3E2"/>
          </a:solidFill>
          <a:ln/>
        </p:spPr>
      </p:sp>
      <p:sp>
        <p:nvSpPr>
          <p:cNvPr id="38" name="Text 36"/>
          <p:cNvSpPr/>
          <p:nvPr/>
        </p:nvSpPr>
        <p:spPr>
          <a:xfrm>
            <a:off x="7863840" y="41148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4A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badge on the menu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7863840" y="4434840"/>
            <a:ext cx="3566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7C4A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number beside Transfers counts everything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7C4A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waiting on you — stock coming in that you have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7C4A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yet accepted, and requests others are waiting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7C4A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you to approve.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7C4A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badge is not zero, someone is waiting.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what arrives is not what was sent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50976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the good stock, dispute the rest — in one step.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94960" cy="1874520"/>
          </a:xfrm>
          <a:prstGeom prst="roundRect">
            <a:avLst>
              <a:gd name="adj" fmla="val 4878"/>
            </a:avLst>
          </a:prstGeom>
          <a:solidFill>
            <a:srgbClr val="F3F6F4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7830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situation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10312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transfer says 100 packs. You open the box and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80 good packs — 20 are damaged.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22960" y="269748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what you actually received. Do not accept all 100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fix it later with an adjustment.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17920" y="1600200"/>
            <a:ext cx="5394960" cy="1874520"/>
          </a:xfrm>
          <a:prstGeom prst="roundRect">
            <a:avLst>
              <a:gd name="adj" fmla="val 4878"/>
            </a:avLst>
          </a:prstGeom>
          <a:solidFill>
            <a:srgbClr val="111827"/>
          </a:solidFill>
          <a:ln w="12700">
            <a:solidFill>
              <a:srgbClr val="263042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46520" y="17373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delivery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46520" y="2084832"/>
            <a:ext cx="2286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6B76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QUANTITY ACCEPTED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6446520" y="2258568"/>
            <a:ext cx="2286000" cy="292608"/>
          </a:xfrm>
          <a:prstGeom prst="roundRect">
            <a:avLst>
              <a:gd name="adj" fmla="val 12500"/>
            </a:avLst>
          </a:prstGeom>
          <a:solidFill>
            <a:srgbClr val="1B2434"/>
          </a:solidFill>
          <a:ln w="12700">
            <a:solidFill>
              <a:srgbClr val="2C3A4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37960" y="2258568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9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9006840" y="2084832"/>
            <a:ext cx="2286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6B76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QUANTITY RETURNED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9006840" y="2258568"/>
            <a:ext cx="2286000" cy="292608"/>
          </a:xfrm>
          <a:prstGeom prst="roundRect">
            <a:avLst>
              <a:gd name="adj" fmla="val 12500"/>
            </a:avLst>
          </a:prstGeom>
          <a:solidFill>
            <a:srgbClr val="1B2434"/>
          </a:solidFill>
          <a:ln w="12700">
            <a:solidFill>
              <a:srgbClr val="2C3A4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098280" y="2258568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9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446520" y="2670048"/>
            <a:ext cx="48463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6B76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 FOR DISPUTE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6446520" y="2843784"/>
            <a:ext cx="4846320" cy="292608"/>
          </a:xfrm>
          <a:prstGeom prst="roundRect">
            <a:avLst>
              <a:gd name="adj" fmla="val 12500"/>
            </a:avLst>
          </a:prstGeom>
          <a:solidFill>
            <a:srgbClr val="1B2434"/>
          </a:solidFill>
          <a:ln w="12700">
            <a:solidFill>
              <a:srgbClr val="2C3A4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37960" y="2843784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9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packs damaged in transit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9464040" y="3090672"/>
            <a:ext cx="1828800" cy="310896"/>
          </a:xfrm>
          <a:prstGeom prst="roundRect">
            <a:avLst>
              <a:gd name="adj" fmla="val 14706"/>
            </a:avLst>
          </a:prstGeom>
          <a:solidFill>
            <a:srgbClr val="16A34A"/>
          </a:solidFill>
          <a:ln/>
        </p:spPr>
      </p:sp>
      <p:sp>
        <p:nvSpPr>
          <p:cNvPr id="20" name="Text 18"/>
          <p:cNvSpPr/>
          <p:nvPr/>
        </p:nvSpPr>
        <p:spPr>
          <a:xfrm>
            <a:off x="9464040" y="3090672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48640" y="3703320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EnVo does next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48640" y="4160520"/>
            <a:ext cx="11064240" cy="566928"/>
          </a:xfrm>
          <a:prstGeom prst="roundRect">
            <a:avLst>
              <a:gd name="adj" fmla="val 11290"/>
            </a:avLst>
          </a:prstGeom>
          <a:solidFill>
            <a:srgbClr val="F3F6F4"/>
          </a:solidFill>
          <a:ln/>
        </p:spPr>
      </p:sp>
      <p:sp>
        <p:nvSpPr>
          <p:cNvPr id="23" name="Shape 21"/>
          <p:cNvSpPr/>
          <p:nvPr/>
        </p:nvSpPr>
        <p:spPr>
          <a:xfrm>
            <a:off x="777240" y="4352544"/>
            <a:ext cx="182880" cy="18288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24" name="Text 22"/>
          <p:cNvSpPr/>
          <p:nvPr/>
        </p:nvSpPr>
        <p:spPr>
          <a:xfrm>
            <a:off x="1143000" y="4160520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packs are added to your stock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212080" y="4160520"/>
            <a:ext cx="6217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good stock is yours immediately — it is recorded as accepted.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48640" y="4818888"/>
            <a:ext cx="11064240" cy="566928"/>
          </a:xfrm>
          <a:prstGeom prst="roundRect">
            <a:avLst>
              <a:gd name="adj" fmla="val 11290"/>
            </a:avLst>
          </a:prstGeom>
          <a:solidFill>
            <a:srgbClr val="F3F6F4"/>
          </a:solidFill>
          <a:ln/>
        </p:spPr>
      </p:sp>
      <p:sp>
        <p:nvSpPr>
          <p:cNvPr id="27" name="Shape 25"/>
          <p:cNvSpPr/>
          <p:nvPr/>
        </p:nvSpPr>
        <p:spPr>
          <a:xfrm>
            <a:off x="777240" y="5010912"/>
            <a:ext cx="182880" cy="18288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8" name="Text 26"/>
          <p:cNvSpPr/>
          <p:nvPr/>
        </p:nvSpPr>
        <p:spPr>
          <a:xfrm>
            <a:off x="1143000" y="4818888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packs are recorded as disputed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212080" y="4818888"/>
            <a:ext cx="6217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are never added to your shelf, and the sender can see the dispute.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8640" y="5477256"/>
            <a:ext cx="11064240" cy="566928"/>
          </a:xfrm>
          <a:prstGeom prst="roundRect">
            <a:avLst>
              <a:gd name="adj" fmla="val 11290"/>
            </a:avLst>
          </a:prstGeom>
          <a:solidFill>
            <a:srgbClr val="F3F6F4"/>
          </a:solidFill>
          <a:ln/>
        </p:spPr>
      </p:sp>
      <p:sp>
        <p:nvSpPr>
          <p:cNvPr id="31" name="Shape 29"/>
          <p:cNvSpPr/>
          <p:nvPr/>
        </p:nvSpPr>
        <p:spPr>
          <a:xfrm>
            <a:off x="777240" y="5669280"/>
            <a:ext cx="182880" cy="18288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2" name="Text 30"/>
          <p:cNvSpPr/>
          <p:nvPr/>
        </p:nvSpPr>
        <p:spPr>
          <a:xfrm>
            <a:off x="1143000" y="5477256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name is recorded on the dispute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212080" y="5477256"/>
            <a:ext cx="6217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the sending facility knows who to contact about it.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48640" y="623620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dispute is final. It cannot be reopened — so count carefully before you confirm.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alerts mean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50976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things EnVo watches for you, on the Alerts screen.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51760" cy="2194560"/>
          </a:xfrm>
          <a:prstGeom prst="roundRect">
            <a:avLst>
              <a:gd name="adj" fmla="val 4167"/>
            </a:avLst>
          </a:prstGeom>
          <a:solidFill>
            <a:srgbClr val="F3F6F4"/>
          </a:solidFill>
          <a:ln/>
          <a:effectLst>
            <a:outerShdw sx="100000" sy="100000" kx="0" ky="0" algn="bl" rotWithShape="0" blurRad="1524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86384" y="1783080"/>
            <a:ext cx="21762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DC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86384" y="2606040"/>
            <a:ext cx="2176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stock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86384" y="2926080"/>
            <a:ext cx="21762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quantity on hand is zero.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have none left.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410712" y="1600200"/>
            <a:ext cx="2651760" cy="2194560"/>
          </a:xfrm>
          <a:prstGeom prst="roundRect">
            <a:avLst>
              <a:gd name="adj" fmla="val 4167"/>
            </a:avLst>
          </a:prstGeom>
          <a:solidFill>
            <a:srgbClr val="F3F6F4"/>
          </a:solidFill>
          <a:ln/>
          <a:effectLst>
            <a:outerShdw sx="100000" sy="100000" kx="0" ky="0" algn="bl" rotWithShape="0" blurRad="1524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48456" y="1783080"/>
            <a:ext cx="21762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D977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2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3648456" y="2606040"/>
            <a:ext cx="2176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stock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648456" y="2926080"/>
            <a:ext cx="21762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than 2 months of stock at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current rate of use.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72784" y="1600200"/>
            <a:ext cx="2651760" cy="2194560"/>
          </a:xfrm>
          <a:prstGeom prst="roundRect">
            <a:avLst>
              <a:gd name="adj" fmla="val 4167"/>
            </a:avLst>
          </a:prstGeom>
          <a:solidFill>
            <a:srgbClr val="F3F6F4"/>
          </a:solidFill>
          <a:ln/>
          <a:effectLst>
            <a:outerShdw sx="100000" sy="100000" kx="0" ky="0" algn="bl" rotWithShape="0" blurRad="1524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510528" y="1783080"/>
            <a:ext cx="21762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563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&gt; 4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6510528" y="2606040"/>
            <a:ext cx="2176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Overstock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510528" y="2926080"/>
            <a:ext cx="21762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than 4 months of stock —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 redistributing it.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134856" y="1600200"/>
            <a:ext cx="2651760" cy="2194560"/>
          </a:xfrm>
          <a:prstGeom prst="roundRect">
            <a:avLst>
              <a:gd name="adj" fmla="val 4167"/>
            </a:avLst>
          </a:prstGeom>
          <a:solidFill>
            <a:srgbClr val="F3F6F4"/>
          </a:solidFill>
          <a:ln/>
          <a:effectLst>
            <a:outerShdw sx="100000" sy="100000" kx="0" ky="0" algn="bl" rotWithShape="0" blurRad="1524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372600" y="1783080"/>
            <a:ext cx="21762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6A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180</a:t>
            </a:r>
            <a:endParaRPr lang="en-US" sz="4400" dirty="0"/>
          </a:p>
        </p:txBody>
      </p:sp>
      <p:sp>
        <p:nvSpPr>
          <p:cNvPr id="18" name="Text 16"/>
          <p:cNvSpPr/>
          <p:nvPr/>
        </p:nvSpPr>
        <p:spPr>
          <a:xfrm>
            <a:off x="9372600" y="2606040"/>
            <a:ext cx="2176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Expiry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372600" y="2926080"/>
            <a:ext cx="21762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batch expires within the next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 days.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4023360"/>
            <a:ext cx="5532120" cy="2286000"/>
          </a:xfrm>
          <a:prstGeom prst="roundRect">
            <a:avLst>
              <a:gd name="adj" fmla="val 4000"/>
            </a:avLst>
          </a:prstGeom>
          <a:solidFill>
            <a:srgbClr val="F3F6F4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420624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"2 months" comes from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22960" y="4535424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EnVo works out your Average Monthly Consumption (AMC)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what you recorded as consumed.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822960" y="5074920"/>
            <a:ext cx="498348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822960" y="5074920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of stock  =  quantity on hand  ÷  AMC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822960" y="5614416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AMC is built from your entries, an alert is only as good as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consumption you recorded.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355080" y="4023360"/>
            <a:ext cx="5257800" cy="2286000"/>
          </a:xfrm>
          <a:prstGeom prst="roundRect">
            <a:avLst>
              <a:gd name="adj" fmla="val 4000"/>
            </a:avLst>
          </a:prstGeom>
          <a:solidFill>
            <a:srgbClr val="FEF3E2"/>
          </a:solidFill>
          <a:ln/>
        </p:spPr>
      </p:sp>
      <p:sp>
        <p:nvSpPr>
          <p:cNvPr id="27" name="Text 25"/>
          <p:cNvSpPr/>
          <p:nvPr/>
        </p:nvSpPr>
        <p:spPr>
          <a:xfrm>
            <a:off x="6629400" y="420624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C4A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questions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629400" y="457200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C4A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AMC has not changed this month.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629400" y="484632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8A5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refreshes once a quarter — in January, April, July and October.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629400" y="5413248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C4A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badge number does not match.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6629400" y="5687568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8A5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menu badge leaves out out-of-stock items; the screen shows all four.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Checking what you have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50976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Levels shows every commodity. Tap one to open its bin card.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6675120" cy="3794760"/>
          </a:xfrm>
          <a:prstGeom prst="roundRect">
            <a:avLst>
              <a:gd name="adj" fmla="val 1928"/>
            </a:avLst>
          </a:prstGeom>
          <a:solidFill>
            <a:srgbClr val="111827"/>
          </a:solidFill>
          <a:ln w="12700">
            <a:solidFill>
              <a:srgbClr val="263042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600200"/>
            <a:ext cx="1965960" cy="3794760"/>
          </a:xfrm>
          <a:prstGeom prst="roundRect">
            <a:avLst>
              <a:gd name="adj" fmla="val 3721"/>
            </a:avLst>
          </a:prstGeom>
          <a:solidFill>
            <a:srgbClr val="080D17"/>
          </a:solidFill>
          <a:ln/>
        </p:spPr>
      </p:sp>
      <p:sp>
        <p:nvSpPr>
          <p:cNvPr id="6" name="Shape 4"/>
          <p:cNvSpPr/>
          <p:nvPr/>
        </p:nvSpPr>
        <p:spPr>
          <a:xfrm>
            <a:off x="694944" y="1746504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16A34A"/>
          </a:solidFill>
          <a:ln/>
        </p:spPr>
      </p:sp>
      <p:sp>
        <p:nvSpPr>
          <p:cNvPr id="7" name="Text 5"/>
          <p:cNvSpPr/>
          <p:nvPr/>
        </p:nvSpPr>
        <p:spPr>
          <a:xfrm>
            <a:off x="1024128" y="173736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86384" y="2167128"/>
            <a:ext cx="1581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Consumed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86384" y="2478024"/>
            <a:ext cx="1581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Intake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86384" y="2788920"/>
            <a:ext cx="1581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58368" y="3072384"/>
            <a:ext cx="1746504" cy="274320"/>
          </a:xfrm>
          <a:prstGeom prst="roundRect">
            <a:avLst>
              <a:gd name="adj" fmla="val 16667"/>
            </a:avLst>
          </a:prstGeom>
          <a:solidFill>
            <a:srgbClr val="14532D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3099816"/>
            <a:ext cx="1581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7F5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Levels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86384" y="3410712"/>
            <a:ext cx="1581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734056" y="1764792"/>
            <a:ext cx="4270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Levels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734056" y="2167128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6B76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COMMODITY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5111496" y="2167128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6B76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QTY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5934456" y="2167128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6B76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6665976" y="2167128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6B76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2734056" y="2441448"/>
            <a:ext cx="4270248" cy="329184"/>
          </a:xfrm>
          <a:prstGeom prst="roundRect">
            <a:avLst>
              <a:gd name="adj" fmla="val 11111"/>
            </a:avLst>
          </a:prstGeom>
          <a:solidFill>
            <a:srgbClr val="1B2434"/>
          </a:solidFill>
          <a:ln/>
        </p:spPr>
      </p:sp>
      <p:sp>
        <p:nvSpPr>
          <p:cNvPr id="20" name="Text 18"/>
          <p:cNvSpPr/>
          <p:nvPr/>
        </p:nvSpPr>
        <p:spPr>
          <a:xfrm>
            <a:off x="2843784" y="2441448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9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Efavirenz 600mg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111496" y="2441448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9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1,240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934456" y="2441448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9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665976" y="2496312"/>
            <a:ext cx="566928" cy="219456"/>
          </a:xfrm>
          <a:prstGeom prst="roundRect">
            <a:avLst>
              <a:gd name="adj" fmla="val 16667"/>
            </a:avLst>
          </a:prstGeom>
          <a:solidFill>
            <a:srgbClr val="16A34A"/>
          </a:solidFill>
          <a:ln/>
        </p:spPr>
      </p:sp>
      <p:sp>
        <p:nvSpPr>
          <p:cNvPr id="24" name="Text 22"/>
          <p:cNvSpPr/>
          <p:nvPr/>
        </p:nvSpPr>
        <p:spPr>
          <a:xfrm>
            <a:off x="6665976" y="2496312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2734056" y="2843784"/>
            <a:ext cx="4270248" cy="329184"/>
          </a:xfrm>
          <a:prstGeom prst="roundRect">
            <a:avLst>
              <a:gd name="adj" fmla="val 11111"/>
            </a:avLst>
          </a:prstGeom>
          <a:solidFill>
            <a:srgbClr val="1B2434"/>
          </a:solidFill>
          <a:ln/>
        </p:spPr>
      </p:sp>
      <p:sp>
        <p:nvSpPr>
          <p:cNvPr id="26" name="Text 24"/>
          <p:cNvSpPr/>
          <p:nvPr/>
        </p:nvSpPr>
        <p:spPr>
          <a:xfrm>
            <a:off x="2843784" y="2843784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9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TLD 90s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111496" y="2843784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9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310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934456" y="2843784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9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665976" y="2898648"/>
            <a:ext cx="566928" cy="219456"/>
          </a:xfrm>
          <a:prstGeom prst="roundRect">
            <a:avLst>
              <a:gd name="adj" fmla="val 16667"/>
            </a:avLst>
          </a:prstGeom>
          <a:solidFill>
            <a:srgbClr val="D97706"/>
          </a:solidFill>
          <a:ln/>
        </p:spPr>
      </p:sp>
      <p:sp>
        <p:nvSpPr>
          <p:cNvPr id="30" name="Text 28"/>
          <p:cNvSpPr/>
          <p:nvPr/>
        </p:nvSpPr>
        <p:spPr>
          <a:xfrm>
            <a:off x="6665976" y="2898648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2734056" y="3246120"/>
            <a:ext cx="4270248" cy="329184"/>
          </a:xfrm>
          <a:prstGeom prst="roundRect">
            <a:avLst>
              <a:gd name="adj" fmla="val 11111"/>
            </a:avLst>
          </a:prstGeom>
          <a:solidFill>
            <a:srgbClr val="1B2434"/>
          </a:solidFill>
          <a:ln/>
        </p:spPr>
      </p:sp>
      <p:sp>
        <p:nvSpPr>
          <p:cNvPr id="32" name="Text 30"/>
          <p:cNvSpPr/>
          <p:nvPr/>
        </p:nvSpPr>
        <p:spPr>
          <a:xfrm>
            <a:off x="2843784" y="324612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9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Nevirapine syrup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111496" y="324612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9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4,900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934456" y="324612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9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6.8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665976" y="3300984"/>
            <a:ext cx="566928" cy="219456"/>
          </a:xfrm>
          <a:prstGeom prst="roundRect">
            <a:avLst>
              <a:gd name="adj" fmla="val 16667"/>
            </a:avLst>
          </a:prstGeom>
          <a:solidFill>
            <a:srgbClr val="2563EB"/>
          </a:solidFill>
          <a:ln/>
        </p:spPr>
      </p:sp>
      <p:sp>
        <p:nvSpPr>
          <p:cNvPr id="36" name="Text 34"/>
          <p:cNvSpPr/>
          <p:nvPr/>
        </p:nvSpPr>
        <p:spPr>
          <a:xfrm>
            <a:off x="6665976" y="3300984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2734056" y="3648456"/>
            <a:ext cx="4270248" cy="329184"/>
          </a:xfrm>
          <a:prstGeom prst="roundRect">
            <a:avLst>
              <a:gd name="adj" fmla="val 11111"/>
            </a:avLst>
          </a:prstGeom>
          <a:solidFill>
            <a:srgbClr val="1B2434"/>
          </a:solidFill>
          <a:ln/>
        </p:spPr>
      </p:sp>
      <p:sp>
        <p:nvSpPr>
          <p:cNvPr id="38" name="Text 36"/>
          <p:cNvSpPr/>
          <p:nvPr/>
        </p:nvSpPr>
        <p:spPr>
          <a:xfrm>
            <a:off x="2843784" y="3648456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9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Determine RTK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5111496" y="3648456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9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5934456" y="3648456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9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665976" y="3703320"/>
            <a:ext cx="566928" cy="219456"/>
          </a:xfrm>
          <a:prstGeom prst="roundRect">
            <a:avLst>
              <a:gd name="adj" fmla="val 16667"/>
            </a:avLst>
          </a:prstGeom>
          <a:solidFill>
            <a:srgbClr val="DC2626"/>
          </a:solidFill>
          <a:ln/>
        </p:spPr>
      </p:sp>
      <p:sp>
        <p:nvSpPr>
          <p:cNvPr id="42" name="Text 40"/>
          <p:cNvSpPr/>
          <p:nvPr/>
        </p:nvSpPr>
        <p:spPr>
          <a:xfrm>
            <a:off x="6665976" y="3703320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548640" y="5468112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 = months of stock. The colour tells you at a glance what needs attention.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7543800" y="1600200"/>
            <a:ext cx="4069080" cy="3794760"/>
          </a:xfrm>
          <a:prstGeom prst="roundRect">
            <a:avLst>
              <a:gd name="adj" fmla="val 2410"/>
            </a:avLst>
          </a:prstGeom>
          <a:solidFill>
            <a:srgbClr val="F3F6F4"/>
          </a:solidFill>
          <a:ln/>
        </p:spPr>
      </p:sp>
      <p:sp>
        <p:nvSpPr>
          <p:cNvPr id="45" name="Text 43"/>
          <p:cNvSpPr/>
          <p:nvPr/>
        </p:nvSpPr>
        <p:spPr>
          <a:xfrm>
            <a:off x="7818120" y="1810512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bin card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7818120" y="2157984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any commodity to open its bin card — the full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of that item at your facility.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7818120" y="2788920"/>
            <a:ext cx="356616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</p:spPr>
      </p:sp>
      <p:sp>
        <p:nvSpPr>
          <p:cNvPr id="48" name="Shape 46"/>
          <p:cNvSpPr/>
          <p:nvPr/>
        </p:nvSpPr>
        <p:spPr>
          <a:xfrm>
            <a:off x="7973568" y="2907792"/>
            <a:ext cx="146304" cy="146304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49" name="Text 47"/>
          <p:cNvSpPr/>
          <p:nvPr/>
        </p:nvSpPr>
        <p:spPr>
          <a:xfrm>
            <a:off x="8229600" y="278892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receipt, issue and adjustment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7818120" y="3264408"/>
            <a:ext cx="356616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</p:spPr>
      </p:sp>
      <p:sp>
        <p:nvSpPr>
          <p:cNvPr id="51" name="Shape 49"/>
          <p:cNvSpPr/>
          <p:nvPr/>
        </p:nvSpPr>
        <p:spPr>
          <a:xfrm>
            <a:off x="7973568" y="3383280"/>
            <a:ext cx="146304" cy="146304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52" name="Text 50"/>
          <p:cNvSpPr/>
          <p:nvPr/>
        </p:nvSpPr>
        <p:spPr>
          <a:xfrm>
            <a:off x="8229600" y="3264408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balance after each entry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7818120" y="3739896"/>
            <a:ext cx="356616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</p:spPr>
      </p:sp>
      <p:sp>
        <p:nvSpPr>
          <p:cNvPr id="54" name="Shape 52"/>
          <p:cNvSpPr/>
          <p:nvPr/>
        </p:nvSpPr>
        <p:spPr>
          <a:xfrm>
            <a:off x="7973568" y="3858768"/>
            <a:ext cx="146304" cy="146304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55" name="Text 53"/>
          <p:cNvSpPr/>
          <p:nvPr/>
        </p:nvSpPr>
        <p:spPr>
          <a:xfrm>
            <a:off x="8229600" y="3739896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numbers and expiry dates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7818120" y="4215384"/>
            <a:ext cx="356616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</p:spPr>
      </p:sp>
      <p:sp>
        <p:nvSpPr>
          <p:cNvPr id="57" name="Shape 55"/>
          <p:cNvSpPr/>
          <p:nvPr/>
        </p:nvSpPr>
        <p:spPr>
          <a:xfrm>
            <a:off x="7973568" y="4334256"/>
            <a:ext cx="146304" cy="146304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58" name="Text 56"/>
          <p:cNvSpPr/>
          <p:nvPr/>
        </p:nvSpPr>
        <p:spPr>
          <a:xfrm>
            <a:off x="8229600" y="4215384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made each entry, and when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7818120" y="475488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b="1" i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your paper bin card, kept for you automatically.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Looking back at what was done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50976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Log for the detail, Monitoring for the picture.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532120" cy="4206240"/>
          </a:xfrm>
          <a:prstGeom prst="roundRect">
            <a:avLst>
              <a:gd name="adj" fmla="val 2174"/>
            </a:avLst>
          </a:prstGeom>
          <a:solidFill>
            <a:srgbClr val="F3F6F4"/>
          </a:solidFill>
          <a:ln/>
          <a:effectLst>
            <a:outerShdw sx="100000" sy="100000" kx="0" ky="0" algn="bl" rotWithShape="0" blurRad="1524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810512"/>
            <a:ext cx="402336" cy="402336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6" name="Text 4"/>
          <p:cNvSpPr/>
          <p:nvPr/>
        </p:nvSpPr>
        <p:spPr>
          <a:xfrm>
            <a:off x="1371600" y="1810512"/>
            <a:ext cx="4389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Log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2331720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entry made at your facility, newest first — who did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what, to which commodity, and when.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22960" y="2971800"/>
            <a:ext cx="498348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29718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Consumed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377440" y="29718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Efavirenz 600mg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709160" y="2971800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−40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22960" y="3429000"/>
            <a:ext cx="498348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34290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Intake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377440" y="34290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TLD 90s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709160" y="3429000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+500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22960" y="3886200"/>
            <a:ext cx="498348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960120" y="38862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Adjustment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377440" y="38862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Determine RTK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709160" y="3886200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−12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822960" y="4480560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Weekly / Monthly tab on the same screen totals these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entries up for the period you choose.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22960" y="5074920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i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a mistake? The log shows edits and who made them —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i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is quietly overwritten.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355080" y="1600200"/>
            <a:ext cx="5257800" cy="4206240"/>
          </a:xfrm>
          <a:prstGeom prst="roundRect">
            <a:avLst>
              <a:gd name="adj" fmla="val 2174"/>
            </a:avLst>
          </a:prstGeom>
          <a:solidFill>
            <a:srgbClr val="F3F6F4"/>
          </a:solidFill>
          <a:ln/>
          <a:effectLst>
            <a:outerShdw sx="100000" sy="100000" kx="0" ky="0" algn="bl" rotWithShape="0" blurRad="1524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629400" y="1810512"/>
            <a:ext cx="402336" cy="402336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4" name="Text 22"/>
          <p:cNvSpPr/>
          <p:nvPr/>
        </p:nvSpPr>
        <p:spPr>
          <a:xfrm>
            <a:off x="7178040" y="1810512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629400" y="2331720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information as a picture — how consumption is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trending, and where the gaps are.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812280" y="3977640"/>
            <a:ext cx="402336" cy="457200"/>
          </a:xfrm>
          <a:prstGeom prst="roundRect">
            <a:avLst>
              <a:gd name="adj" fmla="val 6818"/>
            </a:avLst>
          </a:prstGeom>
          <a:solidFill>
            <a:srgbClr val="BFD9C8"/>
          </a:solidFill>
          <a:ln/>
        </p:spPr>
      </p:sp>
      <p:sp>
        <p:nvSpPr>
          <p:cNvPr id="27" name="Shape 25"/>
          <p:cNvSpPr/>
          <p:nvPr/>
        </p:nvSpPr>
        <p:spPr>
          <a:xfrm>
            <a:off x="7452360" y="3749040"/>
            <a:ext cx="402336" cy="685800"/>
          </a:xfrm>
          <a:prstGeom prst="roundRect">
            <a:avLst>
              <a:gd name="adj" fmla="val 6818"/>
            </a:avLst>
          </a:prstGeom>
          <a:solidFill>
            <a:srgbClr val="BFD9C8"/>
          </a:solidFill>
          <a:ln/>
        </p:spPr>
      </p:sp>
      <p:sp>
        <p:nvSpPr>
          <p:cNvPr id="28" name="Shape 26"/>
          <p:cNvSpPr/>
          <p:nvPr/>
        </p:nvSpPr>
        <p:spPr>
          <a:xfrm>
            <a:off x="8092440" y="3867912"/>
            <a:ext cx="402336" cy="566928"/>
          </a:xfrm>
          <a:prstGeom prst="roundRect">
            <a:avLst>
              <a:gd name="adj" fmla="val 6818"/>
            </a:avLst>
          </a:prstGeom>
          <a:solidFill>
            <a:srgbClr val="BFD9C8"/>
          </a:solidFill>
          <a:ln/>
        </p:spPr>
      </p:sp>
      <p:sp>
        <p:nvSpPr>
          <p:cNvPr id="29" name="Shape 27"/>
          <p:cNvSpPr/>
          <p:nvPr/>
        </p:nvSpPr>
        <p:spPr>
          <a:xfrm>
            <a:off x="8732520" y="3566160"/>
            <a:ext cx="402336" cy="868680"/>
          </a:xfrm>
          <a:prstGeom prst="roundRect">
            <a:avLst>
              <a:gd name="adj" fmla="val 6818"/>
            </a:avLst>
          </a:prstGeom>
          <a:solidFill>
            <a:srgbClr val="BFD9C8"/>
          </a:solidFill>
          <a:ln/>
        </p:spPr>
      </p:sp>
      <p:sp>
        <p:nvSpPr>
          <p:cNvPr id="30" name="Shape 28"/>
          <p:cNvSpPr/>
          <p:nvPr/>
        </p:nvSpPr>
        <p:spPr>
          <a:xfrm>
            <a:off x="9372600" y="3703320"/>
            <a:ext cx="402336" cy="731520"/>
          </a:xfrm>
          <a:prstGeom prst="roundRect">
            <a:avLst>
              <a:gd name="adj" fmla="val 6818"/>
            </a:avLst>
          </a:prstGeom>
          <a:solidFill>
            <a:srgbClr val="BFD9C8"/>
          </a:solidFill>
          <a:ln/>
        </p:spPr>
      </p:sp>
      <p:sp>
        <p:nvSpPr>
          <p:cNvPr id="31" name="Shape 29"/>
          <p:cNvSpPr/>
          <p:nvPr/>
        </p:nvSpPr>
        <p:spPr>
          <a:xfrm>
            <a:off x="10012680" y="3383280"/>
            <a:ext cx="402336" cy="1051560"/>
          </a:xfrm>
          <a:prstGeom prst="roundRect">
            <a:avLst>
              <a:gd name="adj" fmla="val 6818"/>
            </a:avLst>
          </a:prstGeom>
          <a:solidFill>
            <a:srgbClr val="16A34A"/>
          </a:solidFill>
          <a:ln/>
        </p:spPr>
      </p:sp>
      <p:sp>
        <p:nvSpPr>
          <p:cNvPr id="32" name="Shape 30"/>
          <p:cNvSpPr/>
          <p:nvPr/>
        </p:nvSpPr>
        <p:spPr>
          <a:xfrm>
            <a:off x="10652760" y="3520440"/>
            <a:ext cx="402336" cy="914400"/>
          </a:xfrm>
          <a:prstGeom prst="roundRect">
            <a:avLst>
              <a:gd name="adj" fmla="val 6818"/>
            </a:avLst>
          </a:prstGeom>
          <a:solidFill>
            <a:srgbClr val="BFD9C8"/>
          </a:solidFill>
          <a:ln/>
        </p:spPr>
      </p:sp>
      <p:sp>
        <p:nvSpPr>
          <p:cNvPr id="33" name="Shape 31"/>
          <p:cNvSpPr/>
          <p:nvPr/>
        </p:nvSpPr>
        <p:spPr>
          <a:xfrm>
            <a:off x="6720840" y="4462272"/>
            <a:ext cx="4480560" cy="10973"/>
          </a:xfrm>
          <a:prstGeom prst="rect">
            <a:avLst/>
          </a:prstGeom>
          <a:solidFill>
            <a:srgbClr val="C9D2DC"/>
          </a:solidFill>
          <a:ln/>
        </p:spPr>
      </p:sp>
      <p:sp>
        <p:nvSpPr>
          <p:cNvPr id="34" name="Text 32"/>
          <p:cNvSpPr/>
          <p:nvPr/>
        </p:nvSpPr>
        <p:spPr>
          <a:xfrm>
            <a:off x="6720840" y="4526280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Consumption, last 7 periods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629400" y="5074920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Monitoring to spot a facility that has stopped reporting,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a commodity whose use has jumped.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Producing your CRRF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50976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national reporting form, filled in from what you already entered.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120640" cy="1965960"/>
          </a:xfrm>
          <a:prstGeom prst="roundRect">
            <a:avLst>
              <a:gd name="adj" fmla="val 4651"/>
            </a:avLst>
          </a:prstGeom>
          <a:solidFill>
            <a:srgbClr val="F3F6F4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78308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do not fill this in by hand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121408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EnVo builds the CRRF from your recorded consumption,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intake and adjustments for the period. Choose the period,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the figures, then print or export.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301752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periods are bi-monthly.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43600" y="1600200"/>
            <a:ext cx="5669280" cy="1965960"/>
          </a:xfrm>
          <a:prstGeom prst="roundRect">
            <a:avLst>
              <a:gd name="adj" fmla="val 3721"/>
            </a:avLst>
          </a:prstGeom>
          <a:solidFill>
            <a:srgbClr val="111827"/>
          </a:solidFill>
          <a:ln w="12700">
            <a:solidFill>
              <a:srgbClr val="263042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943600" y="1600200"/>
            <a:ext cx="1700784" cy="1965960"/>
          </a:xfrm>
          <a:prstGeom prst="roundRect">
            <a:avLst>
              <a:gd name="adj" fmla="val 4301"/>
            </a:avLst>
          </a:prstGeom>
          <a:solidFill>
            <a:srgbClr val="080D17"/>
          </a:solidFill>
          <a:ln/>
        </p:spPr>
      </p:sp>
      <p:sp>
        <p:nvSpPr>
          <p:cNvPr id="10" name="Shape 8"/>
          <p:cNvSpPr/>
          <p:nvPr/>
        </p:nvSpPr>
        <p:spPr>
          <a:xfrm>
            <a:off x="6089904" y="1746504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16A34A"/>
          </a:solidFill>
          <a:ln/>
        </p:spPr>
      </p:sp>
      <p:sp>
        <p:nvSpPr>
          <p:cNvPr id="11" name="Text 9"/>
          <p:cNvSpPr/>
          <p:nvPr/>
        </p:nvSpPr>
        <p:spPr>
          <a:xfrm>
            <a:off x="6419088" y="1737360"/>
            <a:ext cx="1152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EnVo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181344" y="2167128"/>
            <a:ext cx="1316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Log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181344" y="2478024"/>
            <a:ext cx="1316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053328" y="2761488"/>
            <a:ext cx="1481328" cy="274320"/>
          </a:xfrm>
          <a:prstGeom prst="roundRect">
            <a:avLst>
              <a:gd name="adj" fmla="val 16667"/>
            </a:avLst>
          </a:prstGeom>
          <a:solidFill>
            <a:srgbClr val="14532D"/>
          </a:solidFill>
          <a:ln/>
        </p:spPr>
      </p:sp>
      <p:sp>
        <p:nvSpPr>
          <p:cNvPr id="15" name="Text 13"/>
          <p:cNvSpPr/>
          <p:nvPr/>
        </p:nvSpPr>
        <p:spPr>
          <a:xfrm>
            <a:off x="6181344" y="2788920"/>
            <a:ext cx="1316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7F5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CRRF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863840" y="1764792"/>
            <a:ext cx="3529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CRRF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863840" y="2121408"/>
            <a:ext cx="15544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6B76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7863840" y="2295144"/>
            <a:ext cx="1554480" cy="292608"/>
          </a:xfrm>
          <a:prstGeom prst="roundRect">
            <a:avLst>
              <a:gd name="adj" fmla="val 12500"/>
            </a:avLst>
          </a:prstGeom>
          <a:solidFill>
            <a:srgbClr val="1B2434"/>
          </a:solidFill>
          <a:ln w="12700">
            <a:solidFill>
              <a:srgbClr val="2C3A4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955280" y="2295144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9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9555480" y="2121408"/>
            <a:ext cx="17373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6B76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9555480" y="2295144"/>
            <a:ext cx="1737360" cy="292608"/>
          </a:xfrm>
          <a:prstGeom prst="roundRect">
            <a:avLst>
              <a:gd name="adj" fmla="val 12500"/>
            </a:avLst>
          </a:prstGeom>
          <a:solidFill>
            <a:srgbClr val="1B2434"/>
          </a:solidFill>
          <a:ln w="12700">
            <a:solidFill>
              <a:srgbClr val="2C3A4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46920" y="2295144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9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– Aug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863840" y="2825496"/>
            <a:ext cx="1554480" cy="310896"/>
          </a:xfrm>
          <a:prstGeom prst="roundRect">
            <a:avLst>
              <a:gd name="adj" fmla="val 14706"/>
            </a:avLst>
          </a:prstGeom>
          <a:solidFill>
            <a:srgbClr val="16A34A"/>
          </a:solidFill>
          <a:ln/>
        </p:spPr>
      </p:sp>
      <p:sp>
        <p:nvSpPr>
          <p:cNvPr id="24" name="Text 22"/>
          <p:cNvSpPr/>
          <p:nvPr/>
        </p:nvSpPr>
        <p:spPr>
          <a:xfrm>
            <a:off x="7863840" y="2825496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9555480" y="2825496"/>
            <a:ext cx="1737360" cy="310896"/>
          </a:xfrm>
          <a:prstGeom prst="roundRect">
            <a:avLst>
              <a:gd name="adj" fmla="val 14706"/>
            </a:avLst>
          </a:prstGeom>
          <a:solidFill>
            <a:srgbClr val="1B2434"/>
          </a:solidFill>
          <a:ln w="12700">
            <a:solidFill>
              <a:srgbClr val="3A465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555480" y="282549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9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CSV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48640" y="379476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form you get depends on your section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48640" y="4224528"/>
            <a:ext cx="5440680" cy="1371600"/>
          </a:xfrm>
          <a:prstGeom prst="roundRect">
            <a:avLst>
              <a:gd name="adj" fmla="val 6667"/>
            </a:avLst>
          </a:prstGeom>
          <a:solidFill>
            <a:srgbClr val="F3F6F4"/>
          </a:solidFill>
          <a:ln/>
        </p:spPr>
      </p:sp>
      <p:sp>
        <p:nvSpPr>
          <p:cNvPr id="29" name="Shape 27"/>
          <p:cNvSpPr/>
          <p:nvPr/>
        </p:nvSpPr>
        <p:spPr>
          <a:xfrm>
            <a:off x="804672" y="4443984"/>
            <a:ext cx="329184" cy="329184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30" name="Text 28"/>
          <p:cNvSpPr/>
          <p:nvPr/>
        </p:nvSpPr>
        <p:spPr>
          <a:xfrm>
            <a:off x="1261872" y="4407408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Pharmacy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822960" y="4892040"/>
            <a:ext cx="242316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822960" y="489204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ARV / OI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3429000" y="4892040"/>
            <a:ext cx="242316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</p:spPr>
      </p:sp>
      <p:sp>
        <p:nvSpPr>
          <p:cNvPr id="34" name="Text 32"/>
          <p:cNvSpPr/>
          <p:nvPr/>
        </p:nvSpPr>
        <p:spPr>
          <a:xfrm>
            <a:off x="3429000" y="489204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Condom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172200" y="4224528"/>
            <a:ext cx="5440680" cy="1371600"/>
          </a:xfrm>
          <a:prstGeom prst="roundRect">
            <a:avLst>
              <a:gd name="adj" fmla="val 6667"/>
            </a:avLst>
          </a:prstGeom>
          <a:solidFill>
            <a:srgbClr val="F3F6F4"/>
          </a:solidFill>
          <a:ln/>
        </p:spPr>
      </p:sp>
      <p:sp>
        <p:nvSpPr>
          <p:cNvPr id="36" name="Shape 34"/>
          <p:cNvSpPr/>
          <p:nvPr/>
        </p:nvSpPr>
        <p:spPr>
          <a:xfrm>
            <a:off x="6428232" y="4443984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7" name="Text 35"/>
          <p:cNvSpPr/>
          <p:nvPr/>
        </p:nvSpPr>
        <p:spPr>
          <a:xfrm>
            <a:off x="6885432" y="4407408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Laboratory</a:t>
            </a:r>
            <a:endParaRPr lang="en-US" sz="1500" dirty="0"/>
          </a:p>
        </p:txBody>
      </p:sp>
      <p:sp>
        <p:nvSpPr>
          <p:cNvPr id="38" name="Shape 36"/>
          <p:cNvSpPr/>
          <p:nvPr/>
        </p:nvSpPr>
        <p:spPr>
          <a:xfrm>
            <a:off x="6446520" y="4892040"/>
            <a:ext cx="242316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</p:spPr>
      </p:sp>
      <p:sp>
        <p:nvSpPr>
          <p:cNvPr id="39" name="Text 37"/>
          <p:cNvSpPr/>
          <p:nvPr/>
        </p:nvSpPr>
        <p:spPr>
          <a:xfrm>
            <a:off x="6446520" y="489204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CD4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9052560" y="4892040"/>
            <a:ext cx="242316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</p:spPr>
      </p:sp>
      <p:sp>
        <p:nvSpPr>
          <p:cNvPr id="41" name="Text 39"/>
          <p:cNvSpPr/>
          <p:nvPr/>
        </p:nvSpPr>
        <p:spPr>
          <a:xfrm>
            <a:off x="9052560" y="489204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RTK / DBS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48640" y="585216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commodity shows zero, it means nothing was recorded for it — check your entries before you submit.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206240"/>
            <a:ext cx="4023360" cy="4023360"/>
          </a:xfrm>
          <a:prstGeom prst="ellipse">
            <a:avLst/>
          </a:prstGeom>
          <a:solidFill>
            <a:srgbClr val="14532D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7772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Still stuck?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1554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EE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these first — they solve most problems.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" y="2148840"/>
            <a:ext cx="7132320" cy="731520"/>
          </a:xfrm>
          <a:prstGeom prst="roundRect">
            <a:avLst>
              <a:gd name="adj" fmla="val 10000"/>
            </a:avLst>
          </a:prstGeom>
          <a:solidFill>
            <a:srgbClr val="141E30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2221992"/>
            <a:ext cx="6675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menu item is greyed out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51560" y="2478024"/>
            <a:ext cx="6675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role does not include that action. Store managers record stock; dispensers and site users see fewer options.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22960" y="2990088"/>
            <a:ext cx="7132320" cy="731520"/>
          </a:xfrm>
          <a:prstGeom prst="roundRect">
            <a:avLst>
              <a:gd name="adj" fmla="val 10000"/>
            </a:avLst>
          </a:prstGeom>
          <a:solidFill>
            <a:srgbClr val="141E30"/>
          </a:solidFill>
          <a:ln/>
        </p:spPr>
      </p:sp>
      <p:sp>
        <p:nvSpPr>
          <p:cNvPr id="9" name="Text 7"/>
          <p:cNvSpPr/>
          <p:nvPr/>
        </p:nvSpPr>
        <p:spPr>
          <a:xfrm>
            <a:off x="1051560" y="3063240"/>
            <a:ext cx="6675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numbers look wrong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51560" y="3319272"/>
            <a:ext cx="6675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bin card for that commodity. It shows every movement and the running balance.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22960" y="3831336"/>
            <a:ext cx="7132320" cy="731520"/>
          </a:xfrm>
          <a:prstGeom prst="roundRect">
            <a:avLst>
              <a:gd name="adj" fmla="val 10000"/>
            </a:avLst>
          </a:prstGeom>
          <a:solidFill>
            <a:srgbClr val="141E30"/>
          </a:solidFill>
          <a:ln/>
        </p:spPr>
      </p:sp>
      <p:sp>
        <p:nvSpPr>
          <p:cNvPr id="12" name="Text 10"/>
          <p:cNvSpPr/>
          <p:nvPr/>
        </p:nvSpPr>
        <p:spPr>
          <a:xfrm>
            <a:off x="1051560" y="3904488"/>
            <a:ext cx="6675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entered something incorrectly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51560" y="4160520"/>
            <a:ext cx="6675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delete it. Raise an Adjustment with the right reason, so the correction is traceable.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22960" y="4672584"/>
            <a:ext cx="7132320" cy="731520"/>
          </a:xfrm>
          <a:prstGeom prst="roundRect">
            <a:avLst>
              <a:gd name="adj" fmla="val 10000"/>
            </a:avLst>
          </a:prstGeom>
          <a:solidFill>
            <a:srgbClr val="141E30"/>
          </a:solidFill>
          <a:ln/>
        </p:spPr>
      </p:sp>
      <p:sp>
        <p:nvSpPr>
          <p:cNvPr id="15" name="Text 13"/>
          <p:cNvSpPr/>
          <p:nvPr/>
        </p:nvSpPr>
        <p:spPr>
          <a:xfrm>
            <a:off x="1051560" y="4745736"/>
            <a:ext cx="6675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screen looks out of date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51560" y="5001768"/>
            <a:ext cx="6675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 the page. EnVo updates live, but a dropped connection can leave a stale screen.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321040" y="2148840"/>
            <a:ext cx="3291840" cy="3008376"/>
          </a:xfrm>
          <a:prstGeom prst="roundRect">
            <a:avLst>
              <a:gd name="adj" fmla="val 3040"/>
            </a:avLst>
          </a:prstGeom>
          <a:solidFill>
            <a:srgbClr val="14532D"/>
          </a:solidFill>
          <a:ln/>
        </p:spPr>
      </p:sp>
      <p:sp>
        <p:nvSpPr>
          <p:cNvPr id="18" name="Text 16"/>
          <p:cNvSpPr/>
          <p:nvPr/>
        </p:nvSpPr>
        <p:spPr>
          <a:xfrm>
            <a:off x="8595360" y="237744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support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595360" y="278892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250" dirty="0">
                <a:solidFill>
                  <a:srgbClr val="C9E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Support focal person ]</a:t>
            </a:r>
            <a:endParaRPr lang="en-US" sz="125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250" dirty="0">
                <a:solidFill>
                  <a:srgbClr val="C9E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Phone / WhatsApp ]</a:t>
            </a:r>
            <a:endParaRPr lang="en-US" sz="125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250" dirty="0">
                <a:solidFill>
                  <a:srgbClr val="C9E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E-mail address ]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595360" y="397764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i="1" dirty="0">
                <a:solidFill>
                  <a:srgbClr val="9EE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 report a problem, say which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i="1" dirty="0">
                <a:solidFill>
                  <a:srgbClr val="9EE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you were on and what you had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i="1" dirty="0">
                <a:solidFill>
                  <a:srgbClr val="9EE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done. It gets fixed much faster.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22960" y="5943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50" kern="0" dirty="0">
                <a:solidFill>
                  <a:srgbClr val="6B76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EnVo · Inventory Tracking · HIV Programme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2026-07-20T20:43:19Z</dcterms:created>
  <dcterms:modified xsi:type="dcterms:W3CDTF">2026-07-20T20:43:19Z</dcterms:modified>
</cp:coreProperties>
</file>